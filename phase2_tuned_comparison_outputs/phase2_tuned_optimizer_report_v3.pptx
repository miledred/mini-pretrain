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52238"/>
                </a:solidFill>
                <a:latin typeface="Microsoft YaHei"/>
              </a:defRPr>
            </a:pPr>
            <a:r>
              <a:rPr sz="1300" b="0" i="0" u="none" strike="noStrike">
                <a:solidFill>
                  <a:srgbClr val="152238"/>
                </a:solidFill>
                <a:latin typeface="Microsoft YaHei"/>
              </a:rPr>
              <a:t>Best validation loss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validation loss</c:v>
                </c:pt>
              </c:strCache>
            </c:strRef>
          </c:tx>
          <c:spPr>
            <a:solidFill>
              <a:srgbClr val="1F77B4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F2B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77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7F0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CA02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6272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AdamW
1.5e-4</c:v>
                  </c:pt>
                  <c:pt idx="1">
                    <c:v>AdamW
5e-4</c:v>
                  </c:pt>
                  <c:pt idx="2">
                    <c:v>Muon
1.5e-4</c:v>
                  </c:pt>
                  <c:pt idx="3">
                    <c:v>Muon
7.5e-4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5.3346</c:v>
                </c:pt>
                <c:pt idx="1">
                  <c:v>5.1682</c:v>
                </c:pt>
                <c:pt idx="2">
                  <c:v>5.6711</c:v>
                </c:pt>
                <c:pt idx="3">
                  <c:v>5.1705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800" u="none">
                  <a:solidFill>
                    <a:srgbClr val="1A1F2B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8"/>
          <c:min val="5"/>
        </c:scaling>
        <c:delete val="0"/>
        <c:axPos val="l"/>
        <c:majorGridlines>
          <c:spPr>
            <a:ln w="12700" cap="flat">
              <a:solidFill>
                <a:srgbClr val="E7ECF2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 w="6350" cap="flat">
      <a:solidFill>
        <a:srgbClr val="D6DEE8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52238"/>
                </a:solidFill>
                <a:latin typeface="Microsoft YaHei"/>
              </a:defRPr>
            </a:pPr>
            <a:r>
              <a:rPr sz="1300" b="0" i="0" u="none" strike="noStrike">
                <a:solidFill>
                  <a:srgbClr val="152238"/>
                </a:solidFill>
                <a:latin typeface="Microsoft YaHei"/>
              </a:rPr>
              <a:t>Best validation PPL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validation PPL</c:v>
                </c:pt>
              </c:strCache>
            </c:strRef>
          </c:tx>
          <c:spPr>
            <a:solidFill>
              <a:srgbClr val="1F77B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F2B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77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7F0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CA02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6272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AdamW
1.5e-4</c:v>
                  </c:pt>
                  <c:pt idx="1">
                    <c:v>AdamW
5e-4</c:v>
                  </c:pt>
                  <c:pt idx="2">
                    <c:v>Muon
1.5e-4</c:v>
                  </c:pt>
                  <c:pt idx="3">
                    <c:v>Muon
7.5e-4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207.39</c:v>
                </c:pt>
                <c:pt idx="1">
                  <c:v>175.6</c:v>
                </c:pt>
                <c:pt idx="2">
                  <c:v>290.34</c:v>
                </c:pt>
                <c:pt idx="3">
                  <c:v>175.99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00" u="none">
                  <a:solidFill>
                    <a:srgbClr val="1A1F2B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"/>
          <c:min val="150"/>
        </c:scaling>
        <c:delete val="0"/>
        <c:axPos val="l"/>
        <c:majorGridlines>
          <c:spPr>
            <a:ln w="12700" cap="flat">
              <a:solidFill>
                <a:srgbClr val="E7ECF2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</c:chart>
  <c:spPr>
    <a:noFill/>
    <a:ln w="6350" cap="flat">
      <a:solidFill>
        <a:srgbClr val="D6DEE8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52238"/>
                </a:solidFill>
                <a:latin typeface="Microsoft YaHei"/>
              </a:defRPr>
            </a:pPr>
            <a:r>
              <a:rPr sz="1300" b="0" i="0" u="none" strike="noStrike">
                <a:solidFill>
                  <a:srgbClr val="152238"/>
                </a:solidFill>
                <a:latin typeface="Microsoft YaHei"/>
              </a:rPr>
              <a:t>Final train loss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Final train loss</c:v>
                </c:pt>
              </c:strCache>
            </c:strRef>
          </c:tx>
          <c:spPr>
            <a:solidFill>
              <a:srgbClr val="1F77B4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F2B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77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7F0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CA02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6272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AdamW
1.5e-4</c:v>
                  </c:pt>
                  <c:pt idx="1">
                    <c:v>AdamW
5e-4</c:v>
                  </c:pt>
                  <c:pt idx="2">
                    <c:v>Muon
1.5e-4</c:v>
                  </c:pt>
                  <c:pt idx="3">
                    <c:v>Muon
7.5e-4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5.5276</c:v>
                </c:pt>
                <c:pt idx="1">
                  <c:v>5.3408</c:v>
                </c:pt>
                <c:pt idx="2">
                  <c:v>5.8641</c:v>
                </c:pt>
                <c:pt idx="3">
                  <c:v>5.3285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800" u="none">
                  <a:solidFill>
                    <a:srgbClr val="1A1F2B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5.1"/>
        </c:scaling>
        <c:delete val="0"/>
        <c:axPos val="l"/>
        <c:majorGridlines>
          <c:spPr>
            <a:ln w="12700" cap="flat">
              <a:solidFill>
                <a:srgbClr val="E7ECF2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 w="6350" cap="flat">
      <a:solidFill>
        <a:srgbClr val="D6DEE8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52238"/>
                </a:solidFill>
                <a:latin typeface="Microsoft YaHei"/>
              </a:defRPr>
            </a:pPr>
            <a:r>
              <a:rPr sz="1300" b="0" i="0" u="none" strike="noStrike">
                <a:solidFill>
                  <a:srgbClr val="152238"/>
                </a:solidFill>
                <a:latin typeface="Microsoft YaHei"/>
              </a:rPr>
              <a:t>Mean train loss of last 200 steps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train loss of last 200 steps</c:v>
                </c:pt>
              </c:strCache>
            </c:strRef>
          </c:tx>
          <c:spPr>
            <a:solidFill>
              <a:srgbClr val="1F77B4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F2B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77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7F0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CA02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6272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AdamW
1.5e-4</c:v>
                  </c:pt>
                  <c:pt idx="1">
                    <c:v>AdamW
5e-4</c:v>
                  </c:pt>
                  <c:pt idx="2">
                    <c:v>Muon
1.5e-4</c:v>
                  </c:pt>
                  <c:pt idx="3">
                    <c:v>Muon
7.5e-4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5.4215</c:v>
                </c:pt>
                <c:pt idx="1">
                  <c:v>5.2374</c:v>
                </c:pt>
                <c:pt idx="2">
                  <c:v>5.7893</c:v>
                </c:pt>
                <c:pt idx="3">
                  <c:v>5.244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800" u="none">
                  <a:solidFill>
                    <a:srgbClr val="1A1F2B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5.1"/>
        </c:scaling>
        <c:delete val="0"/>
        <c:axPos val="l"/>
        <c:majorGridlines>
          <c:spPr>
            <a:ln w="12700" cap="flat">
              <a:solidFill>
                <a:srgbClr val="E7ECF2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 w="6350" cap="flat">
      <a:solidFill>
        <a:srgbClr val="D6DEE8"/>
      </a:solidFill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52238"/>
                </a:solidFill>
                <a:latin typeface="Microsoft YaHei"/>
              </a:defRPr>
            </a:pPr>
            <a:r>
              <a:rPr sz="1300" b="0" i="0" u="none" strike="noStrike">
                <a:solidFill>
                  <a:srgbClr val="152238"/>
                </a:solidFill>
                <a:latin typeface="Microsoft YaHei"/>
              </a:rPr>
              <a:t>Peak update ratio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Peak update ratio</c:v>
                </c:pt>
              </c:strCache>
            </c:strRef>
          </c:tx>
          <c:spPr>
            <a:solidFill>
              <a:srgbClr val="1F77B4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F2B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77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7F0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CA02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6272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AdamW
1.5e-4</c:v>
                  </c:pt>
                  <c:pt idx="1">
                    <c:v>AdamW
5e-4</c:v>
                  </c:pt>
                  <c:pt idx="2">
                    <c:v>Muon
1.5e-4</c:v>
                  </c:pt>
                  <c:pt idx="3">
                    <c:v>Muon
7.5e-4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0.001219</c:v>
                </c:pt>
                <c:pt idx="1">
                  <c:v>0.003086</c:v>
                </c:pt>
                <c:pt idx="2">
                  <c:v>0.000796</c:v>
                </c:pt>
                <c:pt idx="3">
                  <c:v>0.002917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800" u="none">
                  <a:solidFill>
                    <a:srgbClr val="1A1F2B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035"/>
          <c:min val="0"/>
        </c:scaling>
        <c:delete val="0"/>
        <c:axPos val="l"/>
        <c:majorGridlines>
          <c:spPr>
            <a:ln w="12700" cap="flat">
              <a:solidFill>
                <a:srgbClr val="E7ECF2"/>
              </a:solidFill>
              <a:prstDash val="solid"/>
              <a:round/>
            </a:ln>
          </c:spPr>
        </c:majorGridlines>
        <c:numFmt formatCode="0.00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0.001"/>
      </c:valAx>
      <c:spPr>
        <a:noFill/>
        <a:ln>
          <a:noFill/>
        </a:ln>
        <a:effectLst/>
      </c:spPr>
    </c:plotArea>
    <c:plotVisOnly val="1"/>
    <c:dispBlanksAs val="span"/>
  </c:chart>
  <c:spPr>
    <a:noFill/>
    <a:ln w="6350" cap="flat">
      <a:solidFill>
        <a:srgbClr val="D6DEE8"/>
      </a:solidFill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52238"/>
                </a:solidFill>
                <a:latin typeface="Microsoft YaHei"/>
              </a:defRPr>
            </a:pPr>
            <a:r>
              <a:rPr sz="1300" b="0" i="0" u="none" strike="noStrike">
                <a:solidFill>
                  <a:srgbClr val="152238"/>
                </a:solidFill>
                <a:latin typeface="Microsoft YaHei"/>
              </a:rPr>
              <a:t>Peak update norm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Peak update norm</c:v>
                </c:pt>
              </c:strCache>
            </c:strRef>
          </c:tx>
          <c:spPr>
            <a:solidFill>
              <a:srgbClr val="1F77B4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F2B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77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7F0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CA02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6272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AdamW
1.5e-4</c:v>
                  </c:pt>
                  <c:pt idx="1">
                    <c:v>AdamW
5e-4</c:v>
                  </c:pt>
                  <c:pt idx="2">
                    <c:v>Muon
1.5e-4</c:v>
                  </c:pt>
                  <c:pt idx="3">
                    <c:v>Muon
7.5e-4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0.2313</c:v>
                </c:pt>
                <c:pt idx="1">
                  <c:v>0.7525</c:v>
                </c:pt>
                <c:pt idx="2">
                  <c:v>0.1472</c:v>
                </c:pt>
                <c:pt idx="3">
                  <c:v>0.6955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800" u="none">
                  <a:solidFill>
                    <a:srgbClr val="1A1F2B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0"/>
        </c:scaling>
        <c:delete val="0"/>
        <c:axPos val="l"/>
        <c:majorGridlines>
          <c:spPr>
            <a:ln w="12700" cap="flat">
              <a:solidFill>
                <a:srgbClr val="E7ECF2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 w="6350" cap="flat">
      <a:solidFill>
        <a:srgbClr val="D6DEE8"/>
      </a:solidFill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52238"/>
                </a:solidFill>
                <a:latin typeface="Microsoft YaHei"/>
              </a:defRPr>
            </a:pPr>
            <a:r>
              <a:rPr sz="1300" b="0" i="0" u="none" strike="noStrike">
                <a:solidFill>
                  <a:srgbClr val="152238"/>
                </a:solidFill>
                <a:latin typeface="Microsoft YaHei"/>
              </a:rPr>
              <a:t>Median throughput (tokens/s)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throughput (tokens/s)</c:v>
                </c:pt>
              </c:strCache>
            </c:strRef>
          </c:tx>
          <c:spPr>
            <a:solidFill>
              <a:srgbClr val="1F77B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F2B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77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7F0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CA02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6272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AdamW
1.5e-4</c:v>
                  </c:pt>
                  <c:pt idx="1">
                    <c:v>AdamW
5e-4</c:v>
                  </c:pt>
                  <c:pt idx="2">
                    <c:v>Muon
1.5e-4</c:v>
                  </c:pt>
                  <c:pt idx="3">
                    <c:v>Muon
7.5e-4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17382</c:v>
                </c:pt>
                <c:pt idx="1">
                  <c:v>18264</c:v>
                </c:pt>
                <c:pt idx="2">
                  <c:v>13559</c:v>
                </c:pt>
                <c:pt idx="3">
                  <c:v>14514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800" u="none">
                  <a:solidFill>
                    <a:srgbClr val="1A1F2B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00"/>
          <c:min val="12000"/>
        </c:scaling>
        <c:delete val="0"/>
        <c:axPos val="l"/>
        <c:majorGridlines>
          <c:spPr>
            <a:ln w="12700" cap="flat">
              <a:solidFill>
                <a:srgbClr val="E7ECF2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2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 w="6350" cap="flat">
      <a:solidFill>
        <a:srgbClr val="D6DEE8"/>
      </a:solidFill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52238"/>
                </a:solidFill>
                <a:latin typeface="Microsoft YaHei"/>
              </a:defRPr>
            </a:pPr>
            <a:r>
              <a:rPr sz="1300" b="0" i="0" u="none" strike="noStrike">
                <a:solidFill>
                  <a:srgbClr val="152238"/>
                </a:solidFill>
                <a:latin typeface="Microsoft YaHei"/>
              </a:rPr>
              <a:t>Peak GPU memory (MB)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Peak GPU memory (MB)</c:v>
                </c:pt>
              </c:strCache>
            </c:strRef>
          </c:tx>
          <c:spPr>
            <a:solidFill>
              <a:srgbClr val="1F77B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F2B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77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7F0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CA02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6272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AdamW
1.5e-4</c:v>
                  </c:pt>
                  <c:pt idx="1">
                    <c:v>AdamW
5e-4</c:v>
                  </c:pt>
                  <c:pt idx="2">
                    <c:v>Muon
1.5e-4</c:v>
                  </c:pt>
                  <c:pt idx="3">
                    <c:v>Muon
7.5e-4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3174</c:v>
                </c:pt>
                <c:pt idx="1">
                  <c:v>3174</c:v>
                </c:pt>
                <c:pt idx="2">
                  <c:v>3070</c:v>
                </c:pt>
                <c:pt idx="3">
                  <c:v>3070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800" u="none">
                  <a:solidFill>
                    <a:srgbClr val="1A1F2B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50"/>
          <c:min val="2950"/>
        </c:scaling>
        <c:delete val="0"/>
        <c:axPos val="l"/>
        <c:majorGridlines>
          <c:spPr>
            <a:ln w="12700" cap="flat">
              <a:solidFill>
                <a:srgbClr val="E7ECF2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noFill/>
    <a:ln w="6350" cap="flat">
      <a:solidFill>
        <a:srgbClr val="D6DEE8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阶段二优化器实验汇报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444752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8"/>
                </a:solidFill>
              </a:rPr>
              <a:t>AdamW vs Muon · 51M L8 Transformer · 50k step · seed=42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221284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62728"/>
                </a:solidFill>
              </a:rPr>
              <a:t>核心修正：充分调优后，AdamW 与 Muon 在验证性能上基本打平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85800" y="3063240"/>
            <a:ext cx="2167128" cy="396240"/>
          </a:xfrm>
          <a:prstGeom prst="rect">
            <a:avLst/>
          </a:prstGeom>
          <a:solidFill>
            <a:srgbClr val="152238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2852928" y="3063240"/>
            <a:ext cx="2167128" cy="396240"/>
          </a:xfrm>
          <a:prstGeom prst="rect">
            <a:avLst/>
          </a:prstGeom>
          <a:solidFill>
            <a:srgbClr val="152238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 Val Loss</a:t>
            </a:r>
            <a:endParaRPr lang="en-US" sz="940" dirty="0"/>
          </a:p>
        </p:txBody>
      </p:sp>
      <p:sp>
        <p:nvSpPr>
          <p:cNvPr id="7" name="Text 5"/>
          <p:cNvSpPr/>
          <p:nvPr/>
        </p:nvSpPr>
        <p:spPr>
          <a:xfrm>
            <a:off x="5020056" y="3063240"/>
            <a:ext cx="2167128" cy="396240"/>
          </a:xfrm>
          <a:prstGeom prst="rect">
            <a:avLst/>
          </a:prstGeom>
          <a:solidFill>
            <a:srgbClr val="152238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 PPL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7187184" y="3063240"/>
            <a:ext cx="2167128" cy="396240"/>
          </a:xfrm>
          <a:prstGeom prst="rect">
            <a:avLst/>
          </a:prstGeom>
          <a:solidFill>
            <a:srgbClr val="152238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训练效率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9354312" y="3063240"/>
            <a:ext cx="2167128" cy="396240"/>
          </a:xfrm>
          <a:prstGeom prst="rect">
            <a:avLst/>
          </a:prstGeom>
          <a:solidFill>
            <a:srgbClr val="152238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显存</a:t>
            </a:r>
            <a:endParaRPr lang="en-US" sz="940" dirty="0"/>
          </a:p>
        </p:txBody>
      </p:sp>
      <p:sp>
        <p:nvSpPr>
          <p:cNvPr id="10" name="Text 8"/>
          <p:cNvSpPr/>
          <p:nvPr/>
        </p:nvSpPr>
        <p:spPr>
          <a:xfrm>
            <a:off x="685800" y="3459480"/>
            <a:ext cx="2167128" cy="396240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5e-4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2852928" y="3459480"/>
            <a:ext cx="2167128" cy="396240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5.1682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0056" y="3459480"/>
            <a:ext cx="2167128" cy="396240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175.60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7187184" y="3459480"/>
            <a:ext cx="2167128" cy="396240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18.3k tok/s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9354312" y="3459480"/>
            <a:ext cx="2167128" cy="396240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3174 MB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685800" y="3855720"/>
            <a:ext cx="2167128" cy="396240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7.5e-4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2852928" y="3855720"/>
            <a:ext cx="2167128" cy="396240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5.1705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5020056" y="3855720"/>
            <a:ext cx="2167128" cy="396240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175.99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7187184" y="3855720"/>
            <a:ext cx="2167128" cy="396240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14.5k tok/s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9354312" y="3855720"/>
            <a:ext cx="2167128" cy="396240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3070 MB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685800" y="4800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B"/>
                </a:solidFill>
              </a:rPr>
              <a:t>质量几乎一致；AdamW 在速度上占优，Muon 在显存上略优。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5379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 · Optimizer Study ·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实验推进路径：从“Muon 优势”到“公平调参后近似平局”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所有正式实验保持模型、batch、block size、训练步数一致；仅调整优化器与学习率。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3672840" cy="457200"/>
          </a:xfrm>
          <a:prstGeom prst="rect">
            <a:avLst/>
          </a:prstGeom>
          <a:solidFill>
            <a:srgbClr val="152238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</a:t>
            </a:r>
            <a:endParaRPr lang="en-US" sz="940" dirty="0"/>
          </a:p>
        </p:txBody>
      </p:sp>
      <p:sp>
        <p:nvSpPr>
          <p:cNvPr id="5" name="Text 3"/>
          <p:cNvSpPr/>
          <p:nvPr/>
        </p:nvSpPr>
        <p:spPr>
          <a:xfrm>
            <a:off x="4267200" y="1417320"/>
            <a:ext cx="3672840" cy="457200"/>
          </a:xfrm>
          <a:prstGeom prst="rect">
            <a:avLst/>
          </a:prstGeom>
          <a:solidFill>
            <a:srgbClr val="152238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7940040" y="1417320"/>
            <a:ext cx="3672840" cy="457200"/>
          </a:xfrm>
          <a:prstGeom prst="rect">
            <a:avLst/>
          </a:prstGeom>
          <a:solidFill>
            <a:srgbClr val="152238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主要发现</a:t>
            </a:r>
            <a:endParaRPr lang="en-US" sz="94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36728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Baseline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4267200" y="1874520"/>
            <a:ext cx="36728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1.5e-4 / 50k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7940040" y="1874520"/>
            <a:ext cx="36728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 Loss 5.3346，作为最初基线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3672840" cy="457200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初试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4267200" y="2331720"/>
            <a:ext cx="3672840" cy="457200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1.5e-4 / 50k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7940040" y="2331720"/>
            <a:ext cx="3672840" cy="457200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明显欠优化，Val Loss 5.6711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594360" y="2788920"/>
            <a:ext cx="36728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调优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4267200" y="2788920"/>
            <a:ext cx="36728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7.5e-4 / 50k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7940040" y="2788920"/>
            <a:ext cx="36728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 Loss 降至 5.1705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94360" y="3246120"/>
            <a:ext cx="3672840" cy="457200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调优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4267200" y="3246120"/>
            <a:ext cx="3672840" cy="457200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LR sweep：3e-4、5e-4、7.5e-4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7940040" y="3246120"/>
            <a:ext cx="3672840" cy="457200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10k 搜索选出 5e-4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594360" y="3703320"/>
            <a:ext cx="36728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公平对比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4267200" y="3703320"/>
            <a:ext cx="36728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5e-4 / 50k vs Muon 7.5e-4 / 50k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7940040" y="3703320"/>
            <a:ext cx="36728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 Loss 5.1682 vs 5.1705，基本持平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731520" y="4617720"/>
            <a:ext cx="1078992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此前结论“Muon 优于 AdamW”只成立于调优 Muon 对比未充分调优 AdamW。</a:t>
            </a:r>
            <a:pPr indent="0" marL="0">
              <a:buNone/>
            </a:pPr>
            <a:r>
              <a:rPr lang="en-US" sz="135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补齐 AdamW 学习率搜索后，质量差距收敛到 0.0022，单次实验不足以判定稳定胜负。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当前最确定的差异不是质量，而是速度与显存的 trade-off。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02920" y="65379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 · Optimizer Study ·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50k 正式实验汇总：质量近似，效率分化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 step 均为 50,000，说明四组曲线到训练末端仍在下降。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38912" y="1325880"/>
            <a:ext cx="1417320" cy="512064"/>
          </a:xfrm>
          <a:prstGeom prst="rect">
            <a:avLst/>
          </a:prstGeom>
          <a:solidFill>
            <a:srgbClr val="152238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</a:t>
            </a:r>
            <a:endParaRPr lang="en-US" sz="940" dirty="0"/>
          </a:p>
        </p:txBody>
      </p:sp>
      <p:sp>
        <p:nvSpPr>
          <p:cNvPr id="5" name="Text 3"/>
          <p:cNvSpPr/>
          <p:nvPr/>
        </p:nvSpPr>
        <p:spPr>
          <a:xfrm>
            <a:off x="1856232" y="1325880"/>
            <a:ext cx="1417320" cy="512064"/>
          </a:xfrm>
          <a:prstGeom prst="rect">
            <a:avLst/>
          </a:prstGeom>
          <a:solidFill>
            <a:srgbClr val="152238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Peak LR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3273552" y="1325880"/>
            <a:ext cx="1417320" cy="512064"/>
          </a:xfrm>
          <a:prstGeom prst="rect">
            <a:avLst/>
          </a:prstGeom>
          <a:solidFill>
            <a:srgbClr val="152238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 Val Loss</a:t>
            </a:r>
            <a:endParaRPr lang="en-US" sz="940" dirty="0"/>
          </a:p>
        </p:txBody>
      </p:sp>
      <p:sp>
        <p:nvSpPr>
          <p:cNvPr id="7" name="Text 5"/>
          <p:cNvSpPr/>
          <p:nvPr/>
        </p:nvSpPr>
        <p:spPr>
          <a:xfrm>
            <a:off x="4690872" y="1325880"/>
            <a:ext cx="1417320" cy="512064"/>
          </a:xfrm>
          <a:prstGeom prst="rect">
            <a:avLst/>
          </a:prstGeom>
          <a:solidFill>
            <a:srgbClr val="152238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 PPL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6108192" y="1325880"/>
            <a:ext cx="1417320" cy="512064"/>
          </a:xfrm>
          <a:prstGeom prst="rect">
            <a:avLst/>
          </a:prstGeom>
          <a:solidFill>
            <a:srgbClr val="152238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Final Train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7525512" y="1325880"/>
            <a:ext cx="1417320" cy="512064"/>
          </a:xfrm>
          <a:prstGeom prst="rect">
            <a:avLst/>
          </a:prstGeom>
          <a:solidFill>
            <a:srgbClr val="152238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Last-200 Train</a:t>
            </a:r>
            <a:endParaRPr lang="en-US" sz="940" dirty="0"/>
          </a:p>
        </p:txBody>
      </p:sp>
      <p:sp>
        <p:nvSpPr>
          <p:cNvPr id="10" name="Text 8"/>
          <p:cNvSpPr/>
          <p:nvPr/>
        </p:nvSpPr>
        <p:spPr>
          <a:xfrm>
            <a:off x="8942832" y="1325880"/>
            <a:ext cx="1417320" cy="512064"/>
          </a:xfrm>
          <a:prstGeom prst="rect">
            <a:avLst/>
          </a:prstGeom>
          <a:solidFill>
            <a:srgbClr val="152238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Median tok/s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10360152" y="1325880"/>
            <a:ext cx="1417320" cy="512064"/>
          </a:xfrm>
          <a:prstGeom prst="rect">
            <a:avLst/>
          </a:prstGeom>
          <a:solidFill>
            <a:srgbClr val="152238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438912" y="1837944"/>
            <a:ext cx="141732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1.5e-4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1856232" y="1837944"/>
            <a:ext cx="141732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1.5e-4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3273552" y="1837944"/>
            <a:ext cx="141732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5.3346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4690872" y="1837944"/>
            <a:ext cx="141732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207.39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6108192" y="1837944"/>
            <a:ext cx="141732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5.5276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7525512" y="1837944"/>
            <a:ext cx="141732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5.4215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8942832" y="1837944"/>
            <a:ext cx="141732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17,382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10360152" y="1837944"/>
            <a:ext cx="141732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3174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438912" y="2350008"/>
            <a:ext cx="1417320" cy="512064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5e-4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1856232" y="2350008"/>
            <a:ext cx="1417320" cy="512064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5e-4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3273552" y="2350008"/>
            <a:ext cx="1417320" cy="512064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5.1682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690872" y="2350008"/>
            <a:ext cx="1417320" cy="512064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175.60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6108192" y="2350008"/>
            <a:ext cx="1417320" cy="512064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5.3408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7525512" y="2350008"/>
            <a:ext cx="1417320" cy="512064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5.2374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8942832" y="2350008"/>
            <a:ext cx="1417320" cy="512064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18,264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10360152" y="2350008"/>
            <a:ext cx="1417320" cy="512064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3174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438912" y="2862072"/>
            <a:ext cx="141732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1.5e-4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1856232" y="2862072"/>
            <a:ext cx="141732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1.5e-4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3273552" y="2862072"/>
            <a:ext cx="141732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5.6711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4690872" y="2862072"/>
            <a:ext cx="141732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290.34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6108192" y="2862072"/>
            <a:ext cx="141732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5.8641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7525512" y="2862072"/>
            <a:ext cx="141732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5.7893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8942832" y="2862072"/>
            <a:ext cx="141732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13,559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10360152" y="2862072"/>
            <a:ext cx="141732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3070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438912" y="3374136"/>
            <a:ext cx="1417320" cy="512064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7.5e-4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1856232" y="3374136"/>
            <a:ext cx="1417320" cy="512064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7.5e-4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3273552" y="3374136"/>
            <a:ext cx="1417320" cy="512064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5.1705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4690872" y="3374136"/>
            <a:ext cx="1417320" cy="512064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175.99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6108192" y="3374136"/>
            <a:ext cx="1417320" cy="512064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5.3285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7525512" y="3374136"/>
            <a:ext cx="1417320" cy="512064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5.2440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8942832" y="3374136"/>
            <a:ext cx="1417320" cy="512064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14,514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10360152" y="3374136"/>
            <a:ext cx="1417320" cy="512064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3070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594360" y="4389120"/>
            <a:ext cx="1115568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AdamW 5e-4 取得最低验证损失 5.1682，但只比 Muon 7.5e-4 低 0.0022。</a:t>
            </a:r>
            <a:pPr indent="0" marL="0">
              <a:buNone/>
            </a:pPr>
            <a:r>
              <a:rPr lang="en-US" sz="132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Muon 7.5e-4 最后一步 train loss 略低；AdamW 5e-4 的后 200 步平均 train loss 略低。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AdamW 5e-4 吞吐最高；Muon 显存最低但优势仅约 104 MB。</a:t>
            </a:r>
            <a:endParaRPr lang="en-US" sz="1320" dirty="0"/>
          </a:p>
        </p:txBody>
      </p:sp>
      <p:sp>
        <p:nvSpPr>
          <p:cNvPr id="45" name="Text 43"/>
          <p:cNvSpPr/>
          <p:nvPr/>
        </p:nvSpPr>
        <p:spPr>
          <a:xfrm>
            <a:off x="502920" y="65379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 · Optimizer Study ·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验证集质量：调优 AdamW 与调优 Muon 几乎打平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 seed=42 下 AdamW 5e-4 最低，但差距极小。</a:t>
            </a:r>
            <a:endParaRPr lang="en-US" sz="10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325880"/>
          <a:ext cx="530352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63640" y="1325880"/>
          <a:ext cx="530352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731520" y="4983480"/>
            <a:ext cx="10789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AdamW 5e-4：Best Val Loss 5.1682，Val PPL 175.60。</a:t>
            </a:r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Muon 7.5e-4：Best Val Loss 5.1705，Val PPL 175.99。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两者 Val Loss 仅差 0.0022；不能用单次实验下“确定胜负”。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02920" y="65379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 · Optimizer Study ·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训练损失：最后一步与后 200 步均显示两者接近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最后一步 batch 有噪声，后 200 步平均更稳定。</a:t>
            </a:r>
            <a:endParaRPr lang="en-US" sz="10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325880"/>
          <a:ext cx="530352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63640" y="1325880"/>
          <a:ext cx="530352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731520" y="4983480"/>
            <a:ext cx="10789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Muon 7.5e-4 最后一步 loss 更低：5.3285 vs 5.3408。</a:t>
            </a:r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但后 200 步平均 AdamW 5e-4 更低：5.2374 vs 5.2440。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训练侧同样不能判定明显胜负，应视作基本持平。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02920" y="65379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 · Optimizer Study ·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更新尺度：学习率调优把有效参数移动推到相近区间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update ratio 是解释优化器差异的重要机制指标。</a:t>
            </a:r>
            <a:endParaRPr lang="en-US" sz="10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325880"/>
          <a:ext cx="530352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63640" y="1325880"/>
          <a:ext cx="530352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731520" y="4983480"/>
            <a:ext cx="10789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Muon 1.5e-4 更新量过小，训练欠充分，是其表现差的主要原因。</a:t>
            </a:r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AdamW 5e-4 peak update ratio ≈ 0.00309；Muon 7.5e-4 ≈ 0.00292。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两者调优后更新尺度接近，对应最终质量近似。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02920" y="65379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 · Optimizer Study ·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效率与资源：AdamW 速度占优，Muon 显存略优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质量近似后，工程效率成为主要区分点。</a:t>
            </a:r>
            <a:endParaRPr lang="en-US" sz="10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325880"/>
          <a:ext cx="530352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63640" y="1325880"/>
          <a:ext cx="530352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731520" y="4983480"/>
            <a:ext cx="10789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AdamW 5e-4 相比 Muon 7.5e-4 吞吐快约 25.8%。</a:t>
            </a:r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Muon 显存节省约 104 MB，约 3.28%。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Muon 中段吞吐异常下降更像系统负载或功耗问题，需独立 benchmark 验证。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02920" y="65379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 · Optimizer Study ·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阶段结论：质量基本平局，调参重要性被验证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本页是建议向老师汇报时使用的正式口径。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914400" cy="493776"/>
          </a:xfrm>
          <a:prstGeom prst="rect">
            <a:avLst/>
          </a:prstGeom>
          <a:solidFill>
            <a:srgbClr val="152238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940" dirty="0"/>
          </a:p>
        </p:txBody>
      </p:sp>
      <p:sp>
        <p:nvSpPr>
          <p:cNvPr id="5" name="Text 3"/>
          <p:cNvSpPr/>
          <p:nvPr/>
        </p:nvSpPr>
        <p:spPr>
          <a:xfrm>
            <a:off x="1600200" y="1234440"/>
            <a:ext cx="9921240" cy="493776"/>
          </a:xfrm>
          <a:prstGeom prst="rect">
            <a:avLst/>
          </a:prstGeom>
          <a:solidFill>
            <a:srgbClr val="152238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685800" y="1728216"/>
            <a:ext cx="914400" cy="493776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600200" y="1728216"/>
            <a:ext cx="9921240" cy="493776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对学习率高度敏感：1.5e-4 明显欠优化，7.5e-4 才进入有效区间。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685800" y="2221992"/>
            <a:ext cx="914400" cy="493776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1600200" y="2221992"/>
            <a:ext cx="9921240" cy="493776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经过学习率搜索后，5e-4 将 Val Loss 从 5.3346 改善到 5.1682。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685800" y="2715768"/>
            <a:ext cx="914400" cy="493776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1600200" y="2715768"/>
            <a:ext cx="9921240" cy="493776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调优后 AdamW 与 Muon 验证性能基本一致，单 seed 不足以证明任何一方稳定胜出。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685800" y="3209544"/>
            <a:ext cx="914400" cy="493776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1600200" y="3209544"/>
            <a:ext cx="9921240" cy="493776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工程侧：AdamW 速度优势明显；Muon 显存略优，但当前幅度不足以抵消吞吐开销。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685800" y="4343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2728"/>
                </a:solidFill>
              </a:rPr>
              <a:t>推荐表述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4736592"/>
            <a:ext cx="10789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</a:rPr>
              <a:t>当前阶段不能写“Muon 普遍优于 AdamW”；应写“在本任务中，Muon 与充分调优 AdamW 达到近似质量，但表现出不同的速度/显存权衡”。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65379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 · Optimizer Study ·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下一步计划：先验证稳定性，再拆解 Muon 机制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当前差距太小，下一阶段优先做 seed 与效率验证，而不是继续单点堆参数。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2800350" cy="594360"/>
          </a:xfrm>
          <a:prstGeom prst="rect">
            <a:avLst/>
          </a:prstGeom>
          <a:solidFill>
            <a:srgbClr val="152238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940" dirty="0"/>
          </a:p>
        </p:txBody>
      </p:sp>
      <p:sp>
        <p:nvSpPr>
          <p:cNvPr id="5" name="Text 3"/>
          <p:cNvSpPr/>
          <p:nvPr/>
        </p:nvSpPr>
        <p:spPr>
          <a:xfrm>
            <a:off x="3303270" y="1234440"/>
            <a:ext cx="2800350" cy="594360"/>
          </a:xfrm>
          <a:prstGeom prst="rect">
            <a:avLst/>
          </a:prstGeom>
          <a:solidFill>
            <a:srgbClr val="152238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6103620" y="1234440"/>
            <a:ext cx="2800350" cy="594360"/>
          </a:xfrm>
          <a:prstGeom prst="rect">
            <a:avLst/>
          </a:prstGeom>
          <a:solidFill>
            <a:srgbClr val="152238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</a:t>
            </a:r>
            <a:endParaRPr lang="en-US" sz="940" dirty="0"/>
          </a:p>
        </p:txBody>
      </p:sp>
      <p:sp>
        <p:nvSpPr>
          <p:cNvPr id="7" name="Text 5"/>
          <p:cNvSpPr/>
          <p:nvPr/>
        </p:nvSpPr>
        <p:spPr>
          <a:xfrm>
            <a:off x="8903970" y="1234440"/>
            <a:ext cx="2800350" cy="594360"/>
          </a:xfrm>
          <a:prstGeom prst="rect">
            <a:avLst/>
          </a:prstGeom>
          <a:solidFill>
            <a:srgbClr val="152238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280035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3303270" y="1828800"/>
            <a:ext cx="280035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多随机种子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6103620" y="1828800"/>
            <a:ext cx="280035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5e-4 与 Muon 7.5e-4；seed=123/2026；先 20k，必要时续到 50k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8903970" y="1828800"/>
            <a:ext cx="280035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 0.0022 差距是否稳定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2423160"/>
            <a:ext cx="2800350" cy="594360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3303270" y="2423160"/>
            <a:ext cx="2800350" cy="594360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独立吞吐 benchmark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6103620" y="2423160"/>
            <a:ext cx="2800350" cy="594360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关闭验证、checkpoint、高频日志；每组 1000 step × 3 次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8903970" y="2423160"/>
            <a:ext cx="2800350" cy="594360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排除系统负载造成的吞吐异常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02920" y="3017520"/>
            <a:ext cx="280035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3303270" y="3017520"/>
            <a:ext cx="280035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辅助参数消融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6103620" y="3017520"/>
            <a:ext cx="280035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LR=7.5e-4；aux AdamW LR=1.5e-4/3e-4/7.5e-4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8903970" y="3017520"/>
            <a:ext cx="280035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区分矩阵正交化与辅助参数学习率贡献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502920" y="3611880"/>
            <a:ext cx="2800350" cy="594360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P4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3303270" y="3611880"/>
            <a:ext cx="2800350" cy="594360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扩展优化器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6103620" y="3611880"/>
            <a:ext cx="2800350" cy="594360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Shampoo → SOAP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8903970" y="3611880"/>
            <a:ext cx="2800350" cy="594360"/>
          </a:xfrm>
          <a:prstGeom prst="rect">
            <a:avLst/>
          </a:prstGeom>
          <a:solidFill>
            <a:srgbClr val="F7F9FC"/>
          </a:solidFill>
          <a:ln>
            <a:solidFill>
              <a:srgbClr val="D6DEE8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进入二阶/准二阶优化器复现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685800" y="4663440"/>
            <a:ext cx="1078992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输出指标：Best Val Loss/PPL 的均值±标准差、time-to-quality、median tok/s、peak memory。</a:t>
            </a:r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若多 seed 后两者仍持平，则报告重点转为“同等质量下的效率与资源权衡”。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若 Muon 多 seed 稳定领先，再进入更细的 Muon 分组学习率消融。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65379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 · Optimizer Study · 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汇报可用话术：一段话概括当前进展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可直接用于给老师做口头汇报或邮件说明。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554480"/>
            <a:ext cx="1065276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我们已完成 AdamW 与 Muon 在 L8-H8-D512、约 51M 参数小型语言模型上的 50k-step 预训练对比。最初 Muon 在直接复用 AdamW 的 1.5e-4 学习率时表现较差，验证损失为 5.6711；将 Muon 调到 7.5e-4 后，验证损失降至 5.1705。为了保证公平性，我们进一步对 AdamW 做了学习率搜索，发现 5e-4 是更优配置，正式 50k 后验证损失达到 5.1682。由此说明，当前任务中两种优化器在充分调参后质量基本持平，AdamW 训练吞吐更高，Muon 显存略低。下一步将通过多随机种子和独立吞吐 benchmark 验证结论稳定性，再做 Muon 辅助参数学习率消融。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当前阶段的能力展示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4434840"/>
            <a:ext cx="1051560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能够实现并运行自定义优化器训练流程。</a:t>
            </a:r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能够做学习率搜索、长程训练、曲线恢复与公平对比。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能够从 loss、PPL、update ratio、吞吐和显存多个维度解释实验结果。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 · Optimizer Study · 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阶段二优化器实验汇报</dc:title>
  <dc:subject>Phase 2 optimizer comparison report</dc:subject>
  <dc:creator>OpenAI</dc:creator>
  <cp:lastModifiedBy>OpenAI</cp:lastModifiedBy>
  <cp:revision>1</cp:revision>
  <dcterms:created xsi:type="dcterms:W3CDTF">2026-06-14T12:23:09Z</dcterms:created>
  <dcterms:modified xsi:type="dcterms:W3CDTF">2026-06-14T12:23:09Z</dcterms:modified>
</cp:coreProperties>
</file>