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Phase 1 AdamW Baseline Audit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实验结果汇报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16002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Pretrain · AdamW Baseline Audit · 50k Steps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487168"/>
            <a:ext cx="2423160" cy="475488"/>
          </a:xfrm>
          <a:prstGeom prst="rect">
            <a:avLst/>
          </a:prstGeom>
          <a:solidFill>
            <a:srgbClr val="E7E1F2"/>
          </a:solidFill>
          <a:ln>
            <a:solidFill>
              <a:srgbClr val="E7E1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F5E9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L8-H8-D512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2423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 baseline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3273552"/>
            <a:ext cx="24231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50k steps；best.pt / latest.pt 均保存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3291840" y="2487168"/>
            <a:ext cx="2148840" cy="475488"/>
          </a:xfrm>
          <a:prstGeom prst="rect">
            <a:avLst/>
          </a:prstGeom>
          <a:solidFill>
            <a:srgbClr val="DCEBE6"/>
          </a:solidFill>
          <a:ln>
            <a:solidFill>
              <a:srgbClr val="DCEB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E93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5.3346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0" y="3017520"/>
            <a:ext cx="2148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val loss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91840" y="3273552"/>
            <a:ext cx="2148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step = 50000，仍在下降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623560" y="2487168"/>
            <a:ext cx="1965960" cy="475488"/>
          </a:xfrm>
          <a:prstGeom prst="rect">
            <a:avLst/>
          </a:prstGeom>
          <a:solidFill>
            <a:srgbClr val="F4E1CF"/>
          </a:solidFill>
          <a:ln>
            <a:solidFill>
              <a:srgbClr val="F4E1C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88C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207.39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23560" y="3017520"/>
            <a:ext cx="1965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 PPL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23560" y="3273552"/>
            <a:ext cx="1965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 L4 的 258.24 更优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7772400" y="2487168"/>
            <a:ext cx="2148840" cy="475488"/>
          </a:xfrm>
          <a:prstGeom prst="rect">
            <a:avLst/>
          </a:prstGeom>
          <a:solidFill>
            <a:srgbClr val="A3C4DC"/>
          </a:solidFill>
          <a:ln>
            <a:solidFill>
              <a:srgbClr val="A3C4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769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17.7k tok/s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2400" y="3017520"/>
            <a:ext cx="2148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0" y="3273552"/>
            <a:ext cx="2148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 正式实验速度基准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85800" y="4160520"/>
            <a:ext cx="10927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汇报目的：证明目前已经具备完整 pretraining baseline 能力，包括数据预处理、模型训练、手写 AdamW、日志曲线、checkpoint 管理和固定 prompt 评估。下一阶段进入 Muon optimizer 对比实验。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685800" y="5532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E9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结论：AdamW baseline 稳定、可复现、可作为 Muon 对照组。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Phase 1 AdamW Baseline Audit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已完成的工程能力：从数据到 checkpoint 的闭环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不是单次跑通，而是已形成可复现实验流水线。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280160" cy="384048"/>
          </a:xfrm>
          <a:prstGeom prst="rect">
            <a:avLst/>
          </a:prstGeom>
          <a:solidFill>
            <a:srgbClr val="376996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874520" y="1325880"/>
            <a:ext cx="6492240" cy="384048"/>
          </a:xfrm>
          <a:prstGeom prst="rect">
            <a:avLst/>
          </a:prstGeom>
          <a:solidFill>
            <a:srgbClr val="376996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已完成内容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366760" y="1325880"/>
            <a:ext cx="3246120" cy="384048"/>
          </a:xfrm>
          <a:prstGeom prst="rect">
            <a:avLst/>
          </a:prstGeom>
          <a:solidFill>
            <a:srgbClr val="376996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本阶段产物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709928"/>
            <a:ext cx="12801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数据构建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74520" y="1709928"/>
            <a:ext cx="6492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WikiText → GPT-2 tokenizer → train.bin / val.bin / data_meta.json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366760" y="1709928"/>
            <a:ext cx="3246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 token 数据文件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1280160" cy="502920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74520" y="2212848"/>
            <a:ext cx="6492240" cy="502920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GPT-style Causal LM：L4/L8 两档配置，block_size=256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366760" y="2212848"/>
            <a:ext cx="3246120" cy="502920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debug；L8 正式 baseline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2715768"/>
            <a:ext cx="12801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74520" y="2715768"/>
            <a:ext cx="6492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 MyAdamW + weight decay / no-decay 参数分组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366760" y="2715768"/>
            <a:ext cx="3246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后续可扩展 Muon / SOAP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3218688"/>
            <a:ext cx="1280160" cy="502920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训练系统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74520" y="3218688"/>
            <a:ext cx="6492240" cy="502920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warmup + cosine decay、grad clip、step-based training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66760" y="3218688"/>
            <a:ext cx="3246120" cy="502920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50k step 完整训练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3721608"/>
            <a:ext cx="12801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日志系统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874520" y="3721608"/>
            <a:ext cx="6492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+ TensorBoard；记录 loss / ppl / grad / update / speed / memory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366760" y="3721608"/>
            <a:ext cx="3246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可直接画曲线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" y="4224528"/>
            <a:ext cx="1280160" cy="502920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74520" y="4224528"/>
            <a:ext cx="6492240" cy="502920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best.pt、latest.pt、每 5000 step periodic checkpoint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366760" y="4224528"/>
            <a:ext cx="3246120" cy="502920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可恢复、可采样、可比较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" y="4727448"/>
            <a:ext cx="12801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定性评估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74520" y="4727448"/>
            <a:ext cx="6492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5 个 prompt；greedy + sampling 两种解码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366760" y="4727448"/>
            <a:ext cx="3246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sample_outputs_L4/L8.md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" y="5961888"/>
            <a:ext cx="10561320" cy="411480"/>
          </a:xfrm>
          <a:prstGeom prst="rect">
            <a:avLst/>
          </a:prstGeom>
          <a:solidFill>
            <a:srgbClr val="DCEBE6"/>
          </a:solidFill>
          <a:ln>
            <a:solidFill>
              <a:srgbClr val="DCEB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能力展示重点：后续做 Muon 时，不需要重新搭建 pipeline，只需要接入 optimizer 并复用同一套日志、曲线和采样协议。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Phase 1 AdamW Baseline Audit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两组 AdamW baseline 均已完整跑到 50k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 指标更好，L4 更适合作为后续 Muon smoke test。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1417320" cy="365760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</a:t>
            </a:r>
            <a:endParaRPr lang="en-US" sz="770" dirty="0"/>
          </a:p>
        </p:txBody>
      </p:sp>
      <p:sp>
        <p:nvSpPr>
          <p:cNvPr id="6" name="Text 4"/>
          <p:cNvSpPr/>
          <p:nvPr/>
        </p:nvSpPr>
        <p:spPr>
          <a:xfrm>
            <a:off x="1920240" y="1280160"/>
            <a:ext cx="1005840" cy="365760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step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2926080" y="1280160"/>
            <a:ext cx="1097280" cy="365760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val loss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4023360" y="1280160"/>
            <a:ext cx="914400" cy="365760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step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1188720" cy="365760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train loss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6126480" y="1280160"/>
            <a:ext cx="1143000" cy="365760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val ppl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7269480" y="1280160"/>
            <a:ext cx="1234440" cy="365760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Last100 tok/s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8503920" y="1280160"/>
            <a:ext cx="1325880" cy="365760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memory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9829800" y="1280160"/>
            <a:ext cx="1874520" cy="365760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Checkpoints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502920" y="1645920"/>
            <a:ext cx="14173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L4-H4-D256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1920240" y="1645920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50000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2926080" y="1645920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5.5539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4023360" y="1645920"/>
            <a:ext cx="914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50000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4937760" y="1645920"/>
            <a:ext cx="1188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5.8432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6126480" y="1645920"/>
            <a:ext cx="1143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258.24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7269480" y="1645920"/>
            <a:ext cx="1234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43,747.5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8503920" y="1645920"/>
            <a:ext cx="1325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2,021.65 MB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9829800" y="1645920"/>
            <a:ext cx="18745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best/latest + 10 periodic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502920" y="2084832"/>
            <a:ext cx="141732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L8-H8-D512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1920240" y="2084832"/>
            <a:ext cx="100584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50000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2926080" y="2084832"/>
            <a:ext cx="109728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5.3346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4023360" y="2084832"/>
            <a:ext cx="91440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50000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4937760" y="2084832"/>
            <a:ext cx="118872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5.5276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6126480" y="2084832"/>
            <a:ext cx="114300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207.39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7269480" y="2084832"/>
            <a:ext cx="123444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17,663.5</a:t>
            </a:r>
            <a:endParaRPr lang="en-US" sz="770" dirty="0"/>
          </a:p>
        </p:txBody>
      </p:sp>
      <p:sp>
        <p:nvSpPr>
          <p:cNvPr id="30" name="Text 28"/>
          <p:cNvSpPr/>
          <p:nvPr/>
        </p:nvSpPr>
        <p:spPr>
          <a:xfrm>
            <a:off x="8503920" y="2084832"/>
            <a:ext cx="132588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3,174.18 MB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9829800" y="2084832"/>
            <a:ext cx="187452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best/latest + 10 periodic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685800" y="3063240"/>
            <a:ext cx="2286000" cy="475488"/>
          </a:xfrm>
          <a:prstGeom prst="rect">
            <a:avLst/>
          </a:prstGeom>
          <a:solidFill>
            <a:srgbClr val="DCEBE6"/>
          </a:solidFill>
          <a:ln>
            <a:solidFill>
              <a:srgbClr val="DCEB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E93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3.95%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5800" y="359359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 loss improvement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" y="3849624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 相比 L4：5.5539 → 5.3346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3246120" y="3063240"/>
            <a:ext cx="2286000" cy="475488"/>
          </a:xfrm>
          <a:prstGeom prst="rect">
            <a:avLst/>
          </a:prstGeom>
          <a:solidFill>
            <a:srgbClr val="F4E1CF"/>
          </a:solidFill>
          <a:ln>
            <a:solidFill>
              <a:srgbClr val="F4E1C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88C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19.69%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246120" y="359359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PPL reduction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46120" y="3849624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258.24 → 207.39，语言建模指标更优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5806440" y="3063240"/>
            <a:ext cx="2286000" cy="475488"/>
          </a:xfrm>
          <a:prstGeom prst="rect">
            <a:avLst/>
          </a:prstGeom>
          <a:solidFill>
            <a:srgbClr val="F0DCDC"/>
          </a:solidFill>
          <a:ln>
            <a:solidFill>
              <a:srgbClr val="F0DC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85C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−59.6%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806440" y="359359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Throughput cost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06440" y="3849624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43.7k → 17.7k tok/s，L8 代价更高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8366760" y="3063240"/>
            <a:ext cx="2560320" cy="475488"/>
          </a:xfrm>
          <a:prstGeom prst="rect">
            <a:avLst/>
          </a:prstGeom>
          <a:solidFill>
            <a:srgbClr val="E7E1F2"/>
          </a:solidFill>
          <a:ln>
            <a:solidFill>
              <a:srgbClr val="E7E1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F5E9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+57.0%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366760" y="3593592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cost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366760" y="3849624"/>
            <a:ext cx="2560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2.0GB → 3.2GB，仍在单卡可承受范围内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868680" y="4983480"/>
            <a:ext cx="10287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判断：L8 是后续论文/报告中的主 baseline；L4 保留为快速调试版本，用于 Muon 接入前的 2k–10k smoke test。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Phase 1 AdamW Baseline Audit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L8 正式 baseline：训练损失和验证损失均持续下降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step 出现在 50k，说明目前没有明显 overfitting rebound。</a:t>
            </a:r>
            <a:endParaRPr lang="en-US" sz="1150" dirty="0"/>
          </a:p>
        </p:txBody>
      </p:sp>
      <p:pic>
        <p:nvPicPr>
          <p:cNvPr id="5" name="Image 0" descr="/mnt/data/train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14450"/>
            <a:ext cx="5486400" cy="3086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5079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 train_loss：从约 11 降至约 5.53</a:t>
            </a:r>
            <a:endParaRPr lang="en-US" sz="850" dirty="0"/>
          </a:p>
        </p:txBody>
      </p:sp>
      <p:pic>
        <p:nvPicPr>
          <p:cNvPr id="7" name="Image 1" descr="/mnt/data/val_lo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7309"/>
            <a:ext cx="5440680" cy="30603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4507992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 val_loss：从约 7.9 降至 5.3346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31520" y="50109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E9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曲线结论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5358384"/>
            <a:ext cx="1078992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训练初期 loss 快速下降，随后进入平缓收敛阶段。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validation loss 没有回升，best checkpoint 在第 50000 step。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50k steps 结束时仍在变好，后续优化器对比可以重点看“同样预算下谁下降更快”。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Phase 1 AdamW Baseline Audit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L8 的 validation perplexity 降到 207.39，但生成质量仍有限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PPL 下降证明 LM objective 学到了东西；可读性差主要来自 raw pretraining 阶段。</a:t>
            </a:r>
            <a:endParaRPr lang="en-US" sz="1150" dirty="0"/>
          </a:p>
        </p:txBody>
      </p:sp>
      <p:pic>
        <p:nvPicPr>
          <p:cNvPr id="5" name="Image 0" descr="/mnt/data/val_pp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98721"/>
            <a:ext cx="6629400" cy="37290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010912"/>
            <a:ext cx="662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 validation perplexity：约 2800 → 207.39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98080" y="1508760"/>
            <a:ext cx="1234440" cy="365760"/>
          </a:xfrm>
          <a:prstGeom prst="rect">
            <a:avLst/>
          </a:prstGeom>
          <a:solidFill>
            <a:srgbClr val="6F5E9C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732520" y="1508760"/>
            <a:ext cx="960120" cy="365760"/>
          </a:xfrm>
          <a:prstGeom prst="rect">
            <a:avLst/>
          </a:prstGeom>
          <a:solidFill>
            <a:srgbClr val="6F5E9C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val loss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692640" y="1508760"/>
            <a:ext cx="777240" cy="365760"/>
          </a:xfrm>
          <a:prstGeom prst="rect">
            <a:avLst/>
          </a:prstGeom>
          <a:solidFill>
            <a:srgbClr val="6F5E9C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 ppl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469880" y="1508760"/>
            <a:ext cx="1143000" cy="365760"/>
          </a:xfrm>
          <a:prstGeom prst="rect">
            <a:avLst/>
          </a:prstGeom>
          <a:solidFill>
            <a:srgbClr val="6F5E9C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98080" y="1874520"/>
            <a:ext cx="1234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L4-H4-D256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9601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5.5539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692640" y="1874520"/>
            <a:ext cx="7772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258.24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469880" y="1874520"/>
            <a:ext cx="1143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可用，但容量较小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498080" y="2313432"/>
            <a:ext cx="123444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L8-H8-D512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732520" y="2313432"/>
            <a:ext cx="96012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5.3346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692640" y="2313432"/>
            <a:ext cx="77724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207.39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469880" y="2313432"/>
            <a:ext cx="114300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更适合作为正式 baseline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498080" y="3154680"/>
            <a:ext cx="4114800" cy="1554480"/>
          </a:xfrm>
          <a:prstGeom prst="rect">
            <a:avLst/>
          </a:prstGeom>
          <a:solidFill>
            <a:srgbClr val="F4E1CF"/>
          </a:solidFill>
          <a:ln>
            <a:solidFill>
              <a:srgbClr val="F4E1C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关键解释：PPL 改善 ≠ 直接会聊天。当前没有做 SFT，也没有 instruction tuning，所以固定 prompt 生成仍可能重复、断裂或出现 WikiText 特有的 @@ token。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7498080" y="4983480"/>
            <a:ext cx="4114800" cy="777240"/>
          </a:xfrm>
          <a:prstGeom prst="rect">
            <a:avLst/>
          </a:prstGeom>
          <a:solidFill>
            <a:srgbClr val="DCEBE6"/>
          </a:solidFill>
          <a:ln>
            <a:solidFill>
              <a:srgbClr val="DCEB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后续用途：Muon 对比时，首先比较 val loss / ppl 的收敛速度，再用相同 prompt 采样作为定性补充。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Phase 1 AdamW Baseline Audit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优化动态：学习率、update norm 与 update ratio 行为正常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更新幅度与 cosine learning-rate schedule 同步衰减，没有出现异常爆炸。</a:t>
            </a:r>
            <a:endParaRPr lang="en-US" sz="1150" dirty="0"/>
          </a:p>
        </p:txBody>
      </p:sp>
      <p:pic>
        <p:nvPicPr>
          <p:cNvPr id="5" name="Image 0" descr="/mnt/data/l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55859"/>
            <a:ext cx="3611880" cy="2031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2278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warmup + cosine decay</a:t>
            </a:r>
            <a:endParaRPr lang="en-US" sz="850" dirty="0"/>
          </a:p>
        </p:txBody>
      </p:sp>
      <p:pic>
        <p:nvPicPr>
          <p:cNvPr id="7" name="Image 1" descr="/mnt/data/update_n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155859"/>
            <a:ext cx="3611880" cy="20316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3400" y="32278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update_norm：warmup 后逐步下降</a:t>
            </a:r>
            <a:endParaRPr lang="en-US" sz="850" dirty="0"/>
          </a:p>
        </p:txBody>
      </p:sp>
      <p:pic>
        <p:nvPicPr>
          <p:cNvPr id="9" name="Image 2" descr="/mnt/data/update_rat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155859"/>
            <a:ext cx="3611880" cy="20316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83880" y="32278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update_ratio：相对更新比例平滑衰减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685800" y="39319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69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为什么这页重要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85800" y="4279392"/>
            <a:ext cx="109728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Muon 不是只看 val loss，还要看“每步更新的相对幅度”和训练稳定性。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当前 AdamW 的 update_ratio 是后续 Muon 的安全参照：Muon 不应突然大幅异常升高。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曲线说明已有日志体系可以分析 optimizer 行为，而不是只看最终 loss。</a:t>
            </a:r>
            <a:endParaRPr lang="en-US" sz="1220" dirty="0"/>
          </a:p>
        </p:txBody>
      </p:sp>
      <p:sp>
        <p:nvSpPr>
          <p:cNvPr id="13" name="Text 8"/>
          <p:cNvSpPr/>
          <p:nvPr/>
        </p:nvSpPr>
        <p:spPr>
          <a:xfrm>
            <a:off x="868680" y="5715000"/>
            <a:ext cx="104241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结论：当前 baseline 的优化过程可解释、可追踪，满足优化器研究所需的实验记录粒度。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Phase 1 AdamW Baseline Audit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稳定性与系统开销：梯度、吞吐、显存均已记录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这些指标将用于判断 Muon 是否“值得”：提升 loss 的同时不能成本失控。</a:t>
            </a:r>
            <a:endParaRPr lang="en-US" sz="1150" dirty="0"/>
          </a:p>
        </p:txBody>
      </p:sp>
      <p:pic>
        <p:nvPicPr>
          <p:cNvPr id="5" name="Image 0" descr="/mnt/data/grad_n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5861"/>
            <a:ext cx="3703320" cy="20831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31927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grad_norm：初期尖峰后 bounded</a:t>
            </a:r>
            <a:endParaRPr lang="en-US" sz="850" dirty="0"/>
          </a:p>
        </p:txBody>
      </p:sp>
      <p:pic>
        <p:nvPicPr>
          <p:cNvPr id="7" name="Image 1" descr="/mnt/data/tokens_per_s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175861"/>
            <a:ext cx="3703320" cy="20831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07408" y="331927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tokens/s：L8 约 17.7k tok/s</a:t>
            </a:r>
            <a:endParaRPr lang="en-US" sz="850" dirty="0"/>
          </a:p>
        </p:txBody>
      </p:sp>
      <p:pic>
        <p:nvPicPr>
          <p:cNvPr id="9" name="Image 2" descr="/mnt/data/max_memory_m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278731"/>
            <a:ext cx="3337560" cy="18773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21040" y="331927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显存：约 3.17GB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777240" y="3977640"/>
            <a:ext cx="2057400" cy="329184"/>
          </a:xfrm>
          <a:prstGeom prst="rect">
            <a:avLst/>
          </a:prstGeom>
          <a:solidFill>
            <a:srgbClr val="D88C43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860" dirty="0"/>
          </a:p>
        </p:txBody>
      </p:sp>
      <p:sp>
        <p:nvSpPr>
          <p:cNvPr id="12" name="Text 7"/>
          <p:cNvSpPr/>
          <p:nvPr/>
        </p:nvSpPr>
        <p:spPr>
          <a:xfrm>
            <a:off x="2834640" y="3977640"/>
            <a:ext cx="2057400" cy="329184"/>
          </a:xfrm>
          <a:prstGeom prst="rect">
            <a:avLst/>
          </a:prstGeom>
          <a:solidFill>
            <a:srgbClr val="D88C43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860" dirty="0"/>
          </a:p>
        </p:txBody>
      </p:sp>
      <p:sp>
        <p:nvSpPr>
          <p:cNvPr id="13" name="Text 8"/>
          <p:cNvSpPr/>
          <p:nvPr/>
        </p:nvSpPr>
        <p:spPr>
          <a:xfrm>
            <a:off x="4892040" y="3977640"/>
            <a:ext cx="2057400" cy="329184"/>
          </a:xfrm>
          <a:prstGeom prst="rect">
            <a:avLst/>
          </a:prstGeom>
          <a:solidFill>
            <a:srgbClr val="D88C43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</a:t>
            </a:r>
            <a:endParaRPr lang="en-US" sz="860" dirty="0"/>
          </a:p>
        </p:txBody>
      </p:sp>
      <p:sp>
        <p:nvSpPr>
          <p:cNvPr id="14" name="Text 9"/>
          <p:cNvSpPr/>
          <p:nvPr/>
        </p:nvSpPr>
        <p:spPr>
          <a:xfrm>
            <a:off x="6949440" y="3977640"/>
            <a:ext cx="4434840" cy="329184"/>
          </a:xfrm>
          <a:prstGeom prst="rect">
            <a:avLst/>
          </a:prstGeom>
          <a:solidFill>
            <a:srgbClr val="D88C43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</a:t>
            </a:r>
            <a:endParaRPr lang="en-US" sz="860" dirty="0"/>
          </a:p>
        </p:txBody>
      </p:sp>
      <p:sp>
        <p:nvSpPr>
          <p:cNvPr id="15" name="Text 10"/>
          <p:cNvSpPr/>
          <p:nvPr/>
        </p:nvSpPr>
        <p:spPr>
          <a:xfrm>
            <a:off x="777240" y="4306824"/>
            <a:ext cx="2057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Avg tok/s last100</a:t>
            </a:r>
            <a:endParaRPr lang="en-US" sz="860" dirty="0"/>
          </a:p>
        </p:txBody>
      </p:sp>
      <p:sp>
        <p:nvSpPr>
          <p:cNvPr id="16" name="Text 11"/>
          <p:cNvSpPr/>
          <p:nvPr/>
        </p:nvSpPr>
        <p:spPr>
          <a:xfrm>
            <a:off x="2834640" y="4306824"/>
            <a:ext cx="2057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43,747.5</a:t>
            </a:r>
            <a:endParaRPr lang="en-US" sz="860" dirty="0"/>
          </a:p>
        </p:txBody>
      </p:sp>
      <p:sp>
        <p:nvSpPr>
          <p:cNvPr id="17" name="Text 12"/>
          <p:cNvSpPr/>
          <p:nvPr/>
        </p:nvSpPr>
        <p:spPr>
          <a:xfrm>
            <a:off x="4892040" y="4306824"/>
            <a:ext cx="2057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17,663.5</a:t>
            </a:r>
            <a:endParaRPr lang="en-US" sz="860" dirty="0"/>
          </a:p>
        </p:txBody>
      </p:sp>
      <p:sp>
        <p:nvSpPr>
          <p:cNvPr id="18" name="Text 13"/>
          <p:cNvSpPr/>
          <p:nvPr/>
        </p:nvSpPr>
        <p:spPr>
          <a:xfrm>
            <a:off x="6949440" y="4306824"/>
            <a:ext cx="44348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 慢 59.6%，但更优</a:t>
            </a:r>
            <a:endParaRPr lang="en-US" sz="860" dirty="0"/>
          </a:p>
        </p:txBody>
      </p:sp>
      <p:sp>
        <p:nvSpPr>
          <p:cNvPr id="19" name="Text 14"/>
          <p:cNvSpPr/>
          <p:nvPr/>
        </p:nvSpPr>
        <p:spPr>
          <a:xfrm>
            <a:off x="777240" y="4636008"/>
            <a:ext cx="2057400" cy="329184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memory MB</a:t>
            </a:r>
            <a:endParaRPr lang="en-US" sz="860" dirty="0"/>
          </a:p>
        </p:txBody>
      </p:sp>
      <p:sp>
        <p:nvSpPr>
          <p:cNvPr id="20" name="Text 15"/>
          <p:cNvSpPr/>
          <p:nvPr/>
        </p:nvSpPr>
        <p:spPr>
          <a:xfrm>
            <a:off x="2834640" y="4636008"/>
            <a:ext cx="2057400" cy="329184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2,021.65</a:t>
            </a:r>
            <a:endParaRPr lang="en-US" sz="860" dirty="0"/>
          </a:p>
        </p:txBody>
      </p:sp>
      <p:sp>
        <p:nvSpPr>
          <p:cNvPr id="21" name="Text 16"/>
          <p:cNvSpPr/>
          <p:nvPr/>
        </p:nvSpPr>
        <p:spPr>
          <a:xfrm>
            <a:off x="4892040" y="4636008"/>
            <a:ext cx="2057400" cy="329184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3,174.18</a:t>
            </a:r>
            <a:endParaRPr lang="en-US" sz="860" dirty="0"/>
          </a:p>
        </p:txBody>
      </p:sp>
      <p:sp>
        <p:nvSpPr>
          <p:cNvPr id="22" name="Text 17"/>
          <p:cNvSpPr/>
          <p:nvPr/>
        </p:nvSpPr>
        <p:spPr>
          <a:xfrm>
            <a:off x="6949440" y="4636008"/>
            <a:ext cx="4434840" cy="329184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单卡可承受</a:t>
            </a:r>
            <a:endParaRPr lang="en-US" sz="860" dirty="0"/>
          </a:p>
        </p:txBody>
      </p:sp>
      <p:sp>
        <p:nvSpPr>
          <p:cNvPr id="23" name="Text 18"/>
          <p:cNvSpPr/>
          <p:nvPr/>
        </p:nvSpPr>
        <p:spPr>
          <a:xfrm>
            <a:off x="777240" y="4965192"/>
            <a:ext cx="2057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</a:t>
            </a:r>
            <a:endParaRPr lang="en-US" sz="860" dirty="0"/>
          </a:p>
        </p:txBody>
      </p:sp>
      <p:sp>
        <p:nvSpPr>
          <p:cNvPr id="24" name="Text 19"/>
          <p:cNvSpPr/>
          <p:nvPr/>
        </p:nvSpPr>
        <p:spPr>
          <a:xfrm>
            <a:off x="2834640" y="4965192"/>
            <a:ext cx="2057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best/latest/periodic</a:t>
            </a:r>
            <a:endParaRPr lang="en-US" sz="860" dirty="0"/>
          </a:p>
        </p:txBody>
      </p:sp>
      <p:sp>
        <p:nvSpPr>
          <p:cNvPr id="25" name="Text 20"/>
          <p:cNvSpPr/>
          <p:nvPr/>
        </p:nvSpPr>
        <p:spPr>
          <a:xfrm>
            <a:off x="4892040" y="4965192"/>
            <a:ext cx="2057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best/latest/periodic</a:t>
            </a:r>
            <a:endParaRPr lang="en-US" sz="860" dirty="0"/>
          </a:p>
        </p:txBody>
      </p:sp>
      <p:sp>
        <p:nvSpPr>
          <p:cNvPr id="26" name="Text 21"/>
          <p:cNvSpPr/>
          <p:nvPr/>
        </p:nvSpPr>
        <p:spPr>
          <a:xfrm>
            <a:off x="6949440" y="4965192"/>
            <a:ext cx="44348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对比可复现</a:t>
            </a:r>
            <a:endParaRPr lang="en-US" sz="860" dirty="0"/>
          </a:p>
        </p:txBody>
      </p:sp>
      <p:sp>
        <p:nvSpPr>
          <p:cNvPr id="27" name="Text 22"/>
          <p:cNvSpPr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solidFill>
            <a:srgbClr val="DCEBE6"/>
          </a:solidFill>
          <a:ln>
            <a:solidFill>
              <a:srgbClr val="DCEB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 Muon 对比必须同步报告：val loss / ppl 是否提升，以及 speed / memory / update ratio 是否可接受。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Phase 1 AdamW Baseline Audit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固定 Prompt 采样协议：为后续 Muon 做定性对照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checkpoint 使用相同 5 个 prompt，同时记录 greedy 与 sampling。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3749040" cy="310896"/>
          </a:xfrm>
          <a:prstGeom prst="rect">
            <a:avLst/>
          </a:prstGeom>
          <a:solidFill>
            <a:srgbClr val="376996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434840" y="1325880"/>
            <a:ext cx="731520" cy="310896"/>
          </a:xfrm>
          <a:prstGeom prst="rect">
            <a:avLst/>
          </a:prstGeom>
          <a:solidFill>
            <a:srgbClr val="376996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166360" y="1325880"/>
            <a:ext cx="1097280" cy="310896"/>
          </a:xfrm>
          <a:prstGeom prst="rect">
            <a:avLst/>
          </a:prstGeom>
          <a:solidFill>
            <a:srgbClr val="376996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max_new_tokens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63640" y="1325880"/>
            <a:ext cx="914400" cy="310896"/>
          </a:xfrm>
          <a:prstGeom prst="rect">
            <a:avLst/>
          </a:prstGeom>
          <a:solidFill>
            <a:srgbClr val="376996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解码方式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636776"/>
            <a:ext cx="37490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history of science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434840" y="1636776"/>
            <a:ext cx="73152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166360" y="1636776"/>
            <a:ext cx="10972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63640" y="1636776"/>
            <a:ext cx="91440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Greedy + Sampling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1938528"/>
            <a:ext cx="3749040" cy="30175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the early twentieth century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34840" y="1938528"/>
            <a:ext cx="731520" cy="30175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66360" y="1938528"/>
            <a:ext cx="1097280" cy="30175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63640" y="1938528"/>
            <a:ext cx="914400" cy="30175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Greedy + Sampling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2240280"/>
            <a:ext cx="37490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Artificial intelligence is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34840" y="2240280"/>
            <a:ext cx="73152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66360" y="2240280"/>
            <a:ext cx="10972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63640" y="2240280"/>
            <a:ext cx="91440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Greedy + Sampling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" y="2542032"/>
            <a:ext cx="3749040" cy="30175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theory of evolution states that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34840" y="2542032"/>
            <a:ext cx="731520" cy="30175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66360" y="2542032"/>
            <a:ext cx="1097280" cy="30175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63640" y="2542032"/>
            <a:ext cx="914400" cy="30175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Greedy + Sampling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5800" y="2843784"/>
            <a:ext cx="37490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modern society, technology has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34840" y="2843784"/>
            <a:ext cx="73152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66360" y="2843784"/>
            <a:ext cx="10972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63640" y="2843784"/>
            <a:ext cx="91440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Greedy + Sampling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543800" y="13258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E9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当前采样现象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43800" y="1673352"/>
            <a:ext cx="3977640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Greedy 输出明显重复，例如 “the of / as as / , , , / @@”。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Sampling 输出更丰富，能出现 science、literature、evolution、technology 等主题词。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L8 定量指标更好，但定性文本仍弱，说明 raw LM 尚不能按 instruction 风格回答。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822960" y="3977640"/>
            <a:ext cx="10698480" cy="1005840"/>
          </a:xfrm>
          <a:prstGeom prst="rect">
            <a:avLst/>
          </a:prstGeom>
          <a:solidFill>
            <a:srgbClr val="F4E1CF"/>
          </a:solidFill>
          <a:ln>
            <a:solidFill>
              <a:srgbClr val="F4E1C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这一步不是为了证明模型已经能“聊天”，而是为了建立固定 qualitative baseline。Muon 后续必须用同一组 prompts 采样，避免主观挑样本。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Phase 1 AdamW Baseline Audit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定性样例：L8 sampling 有主题相关性，但语法和长程结构仍弱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以下是真实生成片段，用于说明 raw pretrained checkpoint 的能力边界。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2971800" cy="365760"/>
          </a:xfrm>
          <a:prstGeom prst="rect">
            <a:avLst/>
          </a:prstGeom>
          <a:solidFill>
            <a:srgbClr val="6F5E9C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3474720" y="1234440"/>
            <a:ext cx="1005840" cy="365760"/>
          </a:xfrm>
          <a:prstGeom prst="rect">
            <a:avLst/>
          </a:prstGeom>
          <a:solidFill>
            <a:srgbClr val="6F5E9C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4480560" y="1234440"/>
            <a:ext cx="7223760" cy="365760"/>
          </a:xfrm>
          <a:prstGeom prst="rect">
            <a:avLst/>
          </a:prstGeom>
          <a:solidFill>
            <a:srgbClr val="6F5E9C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 output excerpt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971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history of science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Sampling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4480560" y="1600200"/>
            <a:ext cx="72237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history of science and literature both and in science it been by historians the of writers...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502920" y="2039112"/>
            <a:ext cx="297180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the early twentieth century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3474720" y="2039112"/>
            <a:ext cx="100584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Sampling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4480560" y="2039112"/>
            <a:ext cx="722376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the early twentieth century it an in form classical, style music a of and music...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502920" y="2478024"/>
            <a:ext cx="2971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Artificial intelligence is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3474720" y="2478024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Sampling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4480560" y="2478024"/>
            <a:ext cx="72237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Artificial intelligence is to a, or. , ' is the of who that are to . ' '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502920" y="2916936"/>
            <a:ext cx="297180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theory of evolution states that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474720" y="2916936"/>
            <a:ext cx="100584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Sampling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4480560" y="2916936"/>
            <a:ext cx="7223760" cy="438912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theory of evolution states that are and, with, the of, in, ... most...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502920" y="3355848"/>
            <a:ext cx="2971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modern society, technology has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474720" y="3355848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Sampling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4480560" y="3355848"/>
            <a:ext cx="72237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modern society, technology has more a of @@ jobs the rate time to, is used a in-market...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777240" y="4617720"/>
            <a:ext cx="1417320" cy="310896"/>
          </a:xfrm>
          <a:prstGeom prst="rect">
            <a:avLst/>
          </a:prstGeom>
          <a:solidFill>
            <a:srgbClr val="B85C5C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94560" y="4617720"/>
            <a:ext cx="4937760" cy="310896"/>
          </a:xfrm>
          <a:prstGeom prst="rect">
            <a:avLst/>
          </a:prstGeom>
          <a:solidFill>
            <a:srgbClr val="B85C5C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2320" y="4617720"/>
            <a:ext cx="4251960" cy="310896"/>
          </a:xfrm>
          <a:prstGeom prst="rect">
            <a:avLst/>
          </a:prstGeom>
          <a:solidFill>
            <a:srgbClr val="B85C5C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后续处理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" y="4928616"/>
            <a:ext cx="1417320" cy="26517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重复退化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94560" y="4928616"/>
            <a:ext cx="4937760" cy="26517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Greedy 中出现大量 “the of / as as / 逗号重复”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132320" y="4928616"/>
            <a:ext cx="4251960" cy="26517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 或更强解码策略可改善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" y="5193792"/>
            <a:ext cx="1417320" cy="26517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WikiText artifact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94560" y="5193792"/>
            <a:ext cx="4937760" cy="26517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输出中保留 @@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32320" y="5193792"/>
            <a:ext cx="4251960" cy="26517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数据清洗或 detokenize 后处理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" y="5458968"/>
            <a:ext cx="1417320" cy="26517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语义弱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194560" y="5458968"/>
            <a:ext cx="4937760" cy="26517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Sampling 有主题词但句法不稳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32320" y="5458968"/>
            <a:ext cx="4251960" cy="26517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 pretrain / 调参 / SFT sanity check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Phase 1 AdamW Baseline Audit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阶段一结论：baseline 合格，下一步进入优化器研究本体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这部分已经能支撑后续 AdamW vs Muon 的公平比较。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E9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已经证明的能力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581912"/>
            <a:ext cx="5257800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能够独立搭建并运行完整小规模 GPT-style pretraining pipeline。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能够手写 AdamW 并跟踪 optimizer-level 指标，而不是只调用黑盒 API。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能够完整保存 metrics、TensorBoard、CSV、best/latest/periodic checkpoints。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能够做固定 prompt 采样，形成定量 + 定性 baseline。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400800" y="12344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69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当前结果判断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581912"/>
            <a:ext cx="5074920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L8 优于 L4：best val loss 5.3346 vs 5.5539；PPL 207.39 vs 258.24。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两组 best step 都在 50k，说明没有明显过拟合回升。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生成仍差，但符合 raw pretrained LM 未 SFT 的预期。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L4 更适合快速试错，L8 更适合正式对比。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104241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一句话总结：阶段一不是“只跑了一个模型”，而是已经建立了可复现、可比较、可解释的 AdamW baseline 实验体系。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68680" y="5166360"/>
            <a:ext cx="10424160" cy="685800"/>
          </a:xfrm>
          <a:prstGeom prst="rect">
            <a:avLst/>
          </a:prstGeom>
          <a:solidFill>
            <a:srgbClr val="DCEBE6"/>
          </a:solidFill>
          <a:ln>
            <a:solidFill>
              <a:srgbClr val="DCEB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给老师的定位：现在可以把研究重点从工程搭建切到 optimizer behavior comparison，即 Muon 是否在相同训练预算下更快、更稳、更高效。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Phase 1 AdamW Baseline Audit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下一步计划：Muon 接入与公平对比实验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先小模型 smoke test，确认稳定后再跑 L8 正式实验。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777240" cy="347472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1280160" y="1143000"/>
            <a:ext cx="1828800" cy="347472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3108960" y="1143000"/>
            <a:ext cx="1508760" cy="347472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617720" y="1143000"/>
            <a:ext cx="731520" cy="347472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Steps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5349240" y="1143000"/>
            <a:ext cx="3291840" cy="347472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成功标准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8641080" y="1143000"/>
            <a:ext cx="3063240" cy="347472"/>
          </a:xfrm>
          <a:prstGeom prst="rect">
            <a:avLst/>
          </a:prstGeom>
          <a:solidFill>
            <a:srgbClr val="4E937A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502920" y="1490472"/>
            <a:ext cx="777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1280160" y="1490472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接入 smoke test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3108960" y="1490472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L4-H4-D256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4617720" y="1490472"/>
            <a:ext cx="731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2k–5k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5349240" y="1490472"/>
            <a:ext cx="3291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loss 不爆；update_ratio 正常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8641080" y="1490472"/>
            <a:ext cx="3063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smoke_metrics.csv + 曲线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502920" y="1874520"/>
            <a:ext cx="777240" cy="384048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1280160" y="1874520"/>
            <a:ext cx="1828800" cy="384048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快速对比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108960" y="1874520"/>
            <a:ext cx="1508760" cy="384048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L4-H4-D256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4617720" y="1874520"/>
            <a:ext cx="731520" cy="384048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10k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5349240" y="1874520"/>
            <a:ext cx="3291840" cy="384048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AdamW 前 10k 对齐比较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8641080" y="1874520"/>
            <a:ext cx="3063240" cy="384048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 comparison table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502920" y="2258568"/>
            <a:ext cx="777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1280160" y="2258568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正式对比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3108960" y="2258568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L8-H8-D512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4617720" y="2258568"/>
            <a:ext cx="731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50k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5349240" y="2258568"/>
            <a:ext cx="3291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同预算比较 val loss / ppl / speed / memory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8641080" y="2258568"/>
            <a:ext cx="3063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vs Muon formal report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02920" y="2642616"/>
            <a:ext cx="777240" cy="384048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1280160" y="2642616"/>
            <a:ext cx="1828800" cy="384048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定性复验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3108960" y="2642616"/>
            <a:ext cx="1508760" cy="384048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 best.pt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4617720" y="2642616"/>
            <a:ext cx="731520" cy="384048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prompt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5349240" y="2642616"/>
            <a:ext cx="3291840" cy="384048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prompt 生成对比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8641080" y="2642616"/>
            <a:ext cx="3063240" cy="384048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sample_outputs_muon.md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502920" y="3026664"/>
            <a:ext cx="777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1280160" y="3026664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 SFT sanity check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108960" y="3026664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AdamW/Muon best.pt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4617720" y="3026664"/>
            <a:ext cx="7315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1–3 epochs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349240" y="3026664"/>
            <a:ext cx="3291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 pretrain 能力和 instruction following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8641080" y="3026664"/>
            <a:ext cx="3063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 comparison appendix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868680" y="4251960"/>
            <a:ext cx="10424160" cy="822960"/>
          </a:xfrm>
          <a:prstGeom prst="rect">
            <a:avLst/>
          </a:prstGeom>
          <a:solidFill>
            <a:srgbClr val="F4E1CF"/>
          </a:solidFill>
          <a:ln>
            <a:solidFill>
              <a:srgbClr val="F4E1C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核心研究问题：在相同 data / model / batch / scheduler / max_steps 下，Muon 是否比 AdamW 更快降低 validation loss？如果有效，代价是更高显存、更慢吞吐，还是更大的 update ratio？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868680" y="5349240"/>
            <a:ext cx="10424160" cy="685800"/>
          </a:xfrm>
          <a:prstGeom prst="rect">
            <a:avLst/>
          </a:prstGeom>
          <a:solidFill>
            <a:srgbClr val="DCEBE6"/>
          </a:solidFill>
          <a:ln>
            <a:solidFill>
              <a:srgbClr val="DCEB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近期交付：1）MyMuon optimizer 代码；2）L4 smoke test 曲线；3）AdamW vs Muon 10k 快速表；4）是否启动 L8 50k 正式训练的判断。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37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Pretrain · Phase 1 AdamW Baseline Audit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Appendix：阶段一文件与可复现实验记录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老师追问时可以直接定位到对应文件。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234440" cy="347472"/>
          </a:xfrm>
          <a:prstGeom prst="rect">
            <a:avLst/>
          </a:prstGeom>
          <a:solidFill>
            <a:srgbClr val="376996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1828800" y="1234440"/>
            <a:ext cx="4389120" cy="347472"/>
          </a:xfrm>
          <a:prstGeom prst="rect">
            <a:avLst/>
          </a:prstGeom>
          <a:solidFill>
            <a:srgbClr val="376996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文件/目录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6217920" y="1234440"/>
            <a:ext cx="5349240" cy="347472"/>
          </a:xfrm>
          <a:prstGeom prst="rect">
            <a:avLst/>
          </a:prstGeom>
          <a:solidFill>
            <a:srgbClr val="376996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594360" y="1581912"/>
            <a:ext cx="123444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1828800" y="1581912"/>
            <a:ext cx="438912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logs/&lt;run_name&gt;/metrics.csv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6217920" y="1581912"/>
            <a:ext cx="534924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完整训练指标；本 PPT 曲线来源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1234440" cy="35661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1828800" y="1938528"/>
            <a:ext cx="4389120" cy="35661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logs/&lt;run_name&gt;/config.json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6217920" y="1938528"/>
            <a:ext cx="5349240" cy="35661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记录模型、学习率、batch、scheduler 设置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594360" y="2295144"/>
            <a:ext cx="123444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828800" y="2295144"/>
            <a:ext cx="438912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checkpoints/&lt;run_name&gt;/best.pt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6217920" y="2295144"/>
            <a:ext cx="534924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validation loss 对应模型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594360" y="2651760"/>
            <a:ext cx="1234440" cy="35661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1828800" y="2651760"/>
            <a:ext cx="4389120" cy="35661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checkpoints/&lt;run_name&gt;/latest.pt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6217920" y="2651760"/>
            <a:ext cx="5349240" cy="35661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最新训练状态，可 resume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594360" y="3008376"/>
            <a:ext cx="123444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1828800" y="3008376"/>
            <a:ext cx="438912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step_5000.pt ... step_50000.pt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6217920" y="3008376"/>
            <a:ext cx="534924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周期性模型状态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594360" y="3364992"/>
            <a:ext cx="1234440" cy="35661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阶段一报告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4389120" cy="35661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phase1_baseline_report.md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6217920" y="3364992"/>
            <a:ext cx="5349240" cy="35661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inventory 与结论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594360" y="3721608"/>
            <a:ext cx="123444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采样结果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1828800" y="3721608"/>
            <a:ext cx="438912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sample_outputs_L4.md / sample_outputs_L8.md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6217920" y="3721608"/>
            <a:ext cx="5349240" cy="356616"/>
          </a:xfrm>
          <a:prstGeom prst="rect">
            <a:avLst/>
          </a:prstGeom>
          <a:solidFill>
            <a:srgbClr val="FFFFFF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prompt 定性结果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594360" y="4078224"/>
            <a:ext cx="1234440" cy="35661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汇总表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1828800" y="4078224"/>
            <a:ext cx="4389120" cy="35661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run_inventory.csv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6217920" y="4078224"/>
            <a:ext cx="5349240" cy="356616"/>
          </a:xfrm>
          <a:prstGeom prst="rect">
            <a:avLst/>
          </a:prstGeom>
          <a:solidFill>
            <a:srgbClr val="F2F5F7"/>
          </a:solidFill>
          <a:ln>
            <a:solidFill>
              <a:srgbClr val="D0D5D9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机器可读实验 summary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868680" y="5532120"/>
            <a:ext cx="10424160" cy="502920"/>
          </a:xfrm>
          <a:prstGeom prst="rect">
            <a:avLst/>
          </a:prstGeom>
          <a:solidFill>
            <a:srgbClr val="DCEBE6"/>
          </a:solidFill>
          <a:ln>
            <a:solidFill>
              <a:srgbClr val="DCEB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阶段一完成标准：baseline 可复现、曲线可解释、checkpoint 可加载、采样可对比。当前已满足。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Mini Pretrain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 AdamW Baseline Report</dc:title>
  <dc:subject>Mini Pretrain Phase 1 AdamW Baseline Report</dc:subject>
  <dc:creator>Miledred / ChatGPT</dc:creator>
  <cp:lastModifiedBy>Miledred / ChatGPT</cp:lastModifiedBy>
  <cp:revision>1</cp:revision>
  <dcterms:created xsi:type="dcterms:W3CDTF">2026-06-10T06:13:56Z</dcterms:created>
  <dcterms:modified xsi:type="dcterms:W3CDTF">2026-06-10T06:13:56Z</dcterms:modified>
</cp:coreProperties>
</file>