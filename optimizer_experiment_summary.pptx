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15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阶段实验总结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vs Muon 优化器对比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21762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L8/H8/D512 · WikiText · 10k / 50k 实验汇总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127248"/>
            <a:ext cx="256032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45720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7824" y="32735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更稳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seed 表现接近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3127248"/>
            <a:ext cx="256032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520440" y="3127248"/>
            <a:ext cx="45720" cy="105156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685032" y="32735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有潜力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85032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可打平 AdamW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7648" y="3127248"/>
            <a:ext cx="274320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27648" y="3127248"/>
            <a:ext cx="457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92240" y="32735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 很关键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不能直接复用同一学习率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48006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汇报重点：跑了哪些实验、结果是什么、发现了哪些 optimizer behavior。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713232" y="5230368"/>
            <a:ext cx="99669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当前不建议过度表述“Muon 优于 AdamW”；更严谨的结论是：在本任务上，充分调参后质量接近，但稳定性与效率不同。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本阶段完成了什么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从工程闭环到优化器对比，已经具备可复现实验体系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4944" y="1417320"/>
            <a:ext cx="5669280" cy="2606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搭建 GPT-style mini pretraining pipeline：tokenized memmap 数据、训练/验证、checkpoint、TensorBoard 与 CSV 日志。
• 实现 custom AdamW，并接入 Muon + auxiliary AdamW 的混合参数分组。
• 完成 L4/L8 baseline、Muon 学习率调参、AdamW 学习率消融、seed42/seed123 复现实验。
• 指标覆盖 loss/PPL、grad norm、update norm/ratio、吞吐、显存和定性采样。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629400" y="1417320"/>
            <a:ext cx="822960" cy="466344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75120" y="1463040"/>
            <a:ext cx="73152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452360" y="1417320"/>
            <a:ext cx="2103120" cy="466344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20116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本阶段产物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9555480" y="1417320"/>
            <a:ext cx="1874520" cy="466344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0" y="1463040"/>
            <a:ext cx="17830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629400" y="1883664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75120" y="1929384"/>
            <a:ext cx="73152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7452360" y="1883664"/>
            <a:ext cx="21031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498080" y="1929384"/>
            <a:ext cx="20116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train.py / trainer.py / config.py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9555480" y="1883664"/>
            <a:ext cx="18745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0" y="1929384"/>
            <a:ext cx="17830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统一训练入口与可复现配置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629400" y="2350008"/>
            <a:ext cx="82296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75120" y="2395728"/>
            <a:ext cx="73152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7452360" y="2350008"/>
            <a:ext cx="210312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2395728"/>
            <a:ext cx="20116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MyAdamW / MyMuonAdamW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9555480" y="2350008"/>
            <a:ext cx="187452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01200" y="2395728"/>
            <a:ext cx="17830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optimizer behavior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629400" y="2816352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75120" y="2862072"/>
            <a:ext cx="73152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7452360" y="2816352"/>
            <a:ext cx="21031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498080" y="2862072"/>
            <a:ext cx="20116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 sweep + 50k main runs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9555480" y="2816352"/>
            <a:ext cx="18745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01200" y="2862072"/>
            <a:ext cx="17830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LR、seed、效率影响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6629400" y="3282696"/>
            <a:ext cx="82296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675120" y="3328416"/>
            <a:ext cx="73152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7452360" y="3282696"/>
            <a:ext cx="210312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498080" y="3328416"/>
            <a:ext cx="20116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plots / csv 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9555480" y="3282696"/>
            <a:ext cx="187452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601200" y="3328416"/>
            <a:ext cx="178308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面向教授汇报与后续扩展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713232" y="4617720"/>
            <a:ext cx="10378440" cy="530352"/>
          </a:xfrm>
          <a:prstGeom prst="roundRect">
            <a:avLst>
              <a:gd name="adj" fmla="val 6897"/>
            </a:avLst>
          </a:prstGeom>
          <a:solidFill>
            <a:srgbClr val="EAF1FF"/>
          </a:solidFill>
          <a:ln w="889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9536" y="4745736"/>
            <a:ext cx="10085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实验不是“只跑通模型”，而是形成了可重复、可比较、可解释的 optimizer study workflow。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9808" y="548640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项目结构已形成：src / logs / checkpoints / outputs。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实验设置与对照原则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固定模型和数据，只改变优化器、学习率与 seed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960120" cy="53340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58952" y="14630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73352" y="1417320"/>
            <a:ext cx="4617720" cy="53340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719072" y="14630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1950720"/>
            <a:ext cx="9601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8952" y="19964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73352" y="1950720"/>
            <a:ext cx="46177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719072" y="19964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GPT-style Causal LM, L8 / H8 / D512, 约 51M 参数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484120"/>
            <a:ext cx="96012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8952" y="25298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73352" y="2484120"/>
            <a:ext cx="461772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719072" y="25298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WikiText-style 语料，GPT-2 tokenizer，train.bin / val.bin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3017520"/>
            <a:ext cx="9601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58952" y="30632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73352" y="3017520"/>
            <a:ext cx="46177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719072" y="30632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batch=8, block=256, warmup 4000 + cosine decay, 50k 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3550920"/>
            <a:ext cx="96012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58952" y="35966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73352" y="3550920"/>
            <a:ext cx="461772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719072" y="35966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500 step 验证；记录 loss / PPL / update ratio / tok/s /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4084320"/>
            <a:ext cx="9601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58952" y="4130040"/>
            <a:ext cx="8686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73352" y="4084320"/>
            <a:ext cx="461772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719072" y="4130040"/>
            <a:ext cx="4526280" cy="44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与 Muon 分别调学习率；主结论优先看 50k + 多 seed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389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实验矩阵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059168" y="1938528"/>
            <a:ext cx="0" cy="65836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903720" y="1828800"/>
            <a:ext cx="310896" cy="31089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388352" y="18105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88352" y="2084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L4 / L8 baseline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7059168" y="2788920"/>
            <a:ext cx="0" cy="65836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903720" y="2679192"/>
            <a:ext cx="310896" cy="310896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388352" y="266090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A0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2-A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88352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 → 7.5e-4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7059168" y="3639312"/>
            <a:ext cx="0" cy="65836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03720" y="352958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388352" y="35112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2-B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88352" y="3785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 → 5e-4</a:t>
            </a:r>
            <a:endParaRPr lang="en-US" sz="1230" dirty="0"/>
          </a:p>
        </p:txBody>
      </p:sp>
      <p:sp>
        <p:nvSpPr>
          <p:cNvPr id="45" name="Shape 43"/>
          <p:cNvSpPr/>
          <p:nvPr/>
        </p:nvSpPr>
        <p:spPr>
          <a:xfrm>
            <a:off x="7059168" y="4489704"/>
            <a:ext cx="0" cy="65836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903720" y="437997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388352" y="43616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2-C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88352" y="4636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/ seed123 复现</a:t>
            </a:r>
            <a:endParaRPr lang="en-US" sz="1230" dirty="0"/>
          </a:p>
        </p:txBody>
      </p:sp>
      <p:sp>
        <p:nvSpPr>
          <p:cNvPr id="49" name="Shape 47"/>
          <p:cNvSpPr/>
          <p:nvPr/>
        </p:nvSpPr>
        <p:spPr>
          <a:xfrm>
            <a:off x="713232" y="5257800"/>
            <a:ext cx="10424160" cy="530352"/>
          </a:xfrm>
          <a:prstGeom prst="roundRect">
            <a:avLst>
              <a:gd name="adj" fmla="val 6897"/>
            </a:avLst>
          </a:prstGeom>
          <a:solidFill>
            <a:srgbClr val="FFF6E6"/>
          </a:solidFill>
          <a:ln w="889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9536" y="5385816"/>
            <a:ext cx="10131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注意：Muon 7.5e-4 与 AdamW 5e-4 是分别调优后的配置，不能说“同超参数 Muon </a:t>
            </a:r>
            <a:r>
              <a:rPr lang="en-US" sz="1250" b="1" dirty="0" err="1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</a:t>
            </a: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Phase 1：AdamW baseline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先证明训练管线可靠，并选定 L8 作为正式对照模型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965960" y="1417320"/>
            <a:ext cx="0" cy="269748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0" cy="269748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0" cy="269748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0" cy="269748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0" cy="269748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700784"/>
            <a:ext cx="1143000" cy="7795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L4-H4-D256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65960" y="1737360"/>
            <a:ext cx="1833768" cy="45354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29784" y="1700784"/>
            <a:ext cx="594360" cy="7795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5.5539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31520" y="3118104"/>
            <a:ext cx="1143000" cy="7795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L8-H8-D512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65960" y="3154680"/>
            <a:ext cx="697443" cy="45354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129784" y="3118104"/>
            <a:ext cx="594360" cy="7795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validation loss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123444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11430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498080" y="1554480"/>
            <a:ext cx="91440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543800" y="1600200"/>
            <a:ext cx="82296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loss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412480" y="1554480"/>
            <a:ext cx="77724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58200" y="1600200"/>
            <a:ext cx="6858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PPL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189720" y="1554480"/>
            <a:ext cx="82296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235440" y="160020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tok/s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0012680" y="1554480"/>
            <a:ext cx="82296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058400" y="160020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263640" y="1996440"/>
            <a:ext cx="123444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309360" y="2042160"/>
            <a:ext cx="11430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L4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498080" y="1996440"/>
            <a:ext cx="91440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543800" y="2042160"/>
            <a:ext cx="82296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5.5539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8412480" y="1996440"/>
            <a:ext cx="77724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58200" y="2042160"/>
            <a:ext cx="6858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258.24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9189720" y="1996440"/>
            <a:ext cx="82296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235440" y="204216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43.7k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10012680" y="1996440"/>
            <a:ext cx="82296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58400" y="204216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2.02GB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263640" y="2438400"/>
            <a:ext cx="123444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309360" y="2484120"/>
            <a:ext cx="11430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L8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7498080" y="2438400"/>
            <a:ext cx="91440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543800" y="2484120"/>
            <a:ext cx="82296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8412480" y="2438400"/>
            <a:ext cx="77724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458200" y="2484120"/>
            <a:ext cx="68580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207.39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9189720" y="2438400"/>
            <a:ext cx="82296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235440" y="248412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17.7k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10012680" y="2438400"/>
            <a:ext cx="82296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058400" y="2484120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3.17GB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6263640" y="3337560"/>
            <a:ext cx="493776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L8 相比 L4：val loss 降低约 3.95%，PPL 降低约 19.7%。
• 代价是吞吐降低约 59.6%，显存增加约 57.0%。
• 两组 best step 均在 50k，说明训练末端仍在下降，没有明显 overfitting rebound。
• 后续正式优化器对比以 L8 为主；L4 保留为 smoke test。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749808" y="5577840"/>
            <a:ext cx="9875520" cy="530352"/>
          </a:xfrm>
          <a:prstGeom prst="roundRect">
            <a:avLst>
              <a:gd name="adj" fmla="val 6897"/>
            </a:avLst>
          </a:prstGeom>
          <a:solidFill>
            <a:srgbClr val="EAF7EE"/>
          </a:solidFill>
          <a:ln w="889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96112" y="5705856"/>
            <a:ext cx="9582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结论：AdamW baseline 合格，实验管线可作为 Muon 对照组。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Learning rate 对优化器影响很大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与 AdamW 的有效学习率区间不同，不能直接复制同一 LR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51560" y="1435608"/>
            <a:ext cx="118872" cy="11887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16152" y="1408176"/>
            <a:ext cx="10972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10k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1435608"/>
            <a:ext cx="118872" cy="11887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633472" y="1408176"/>
            <a:ext cx="10972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10k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0120" y="1728216"/>
            <a:ext cx="521208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60120" y="2274570"/>
            <a:ext cx="521208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60120" y="2820924"/>
            <a:ext cx="521208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3367278"/>
            <a:ext cx="521208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60120" y="3913632"/>
            <a:ext cx="521208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86180" y="3986784"/>
            <a:ext cx="1250899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1.5e-4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136028" y="2568727"/>
            <a:ext cx="443027" cy="1344905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289200" y="3986784"/>
            <a:ext cx="1250899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3e-4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439048" y="3023294"/>
            <a:ext cx="443027" cy="89033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947226" y="2084876"/>
            <a:ext cx="443027" cy="1828756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592220" y="3986784"/>
            <a:ext cx="1250899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5e-4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742068" y="3077929"/>
            <a:ext cx="443027" cy="835703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250246" y="2921016"/>
            <a:ext cx="443027" cy="992616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95240" y="3986784"/>
            <a:ext cx="1250899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7.5e-4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045088" y="2962976"/>
            <a:ext cx="443027" cy="95065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553266" y="3466496"/>
            <a:ext cx="443027" cy="447136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680" y="4343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 sweep：Best Val Loss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1481328"/>
            <a:ext cx="393192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903720" y="1481328"/>
            <a:ext cx="45720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068312" y="16276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68312" y="2048256"/>
            <a:ext cx="3611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 最优；50k val loss = 5.1682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03720" y="2816352"/>
            <a:ext cx="393192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903720" y="2816352"/>
            <a:ext cx="45720" cy="105156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068312" y="29626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68312" y="3383280"/>
            <a:ext cx="3611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明显优于低 LR；50k val loss = 5.1705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03720" y="4233672"/>
            <a:ext cx="4114800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1.5e-4 在 50k 仍明显欠优化：best val loss 5.6711。
• 提高 LR 后，Muon 的 update norm / update ratio 进入有效区间，loss 明显下降。
• AdamW baseline 也需要调参：1.5e-4 不是最强基线，5e-4 更合适。</a:t>
            </a: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749808" y="5687568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6E6"/>
          </a:solidFill>
          <a:ln w="889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96112" y="5815584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核心发现：学习率不仅影响速度，也会改变对优化器优劣的判断；公平对比必须做 optimizer-specific LR tuning。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50k 主结果：seed42 下 AdamW 与 Muon 基本打平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 AdamW LR sweep 后，Muon 的优势不再明显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984248" y="1417320"/>
            <a:ext cx="0" cy="301752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910078" y="1417320"/>
            <a:ext cx="0" cy="301752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835908" y="1417320"/>
            <a:ext cx="0" cy="301752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61738" y="1417320"/>
            <a:ext cx="0" cy="301752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687568" y="1417320"/>
            <a:ext cx="0" cy="301752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49808" y="1575054"/>
            <a:ext cx="114300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84248" y="1611630"/>
            <a:ext cx="1336614" cy="25237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42432" y="1575054"/>
            <a:ext cx="59436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49808" y="2363724"/>
            <a:ext cx="114300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84248" y="2400300"/>
            <a:ext cx="388564" cy="25237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742432" y="2363724"/>
            <a:ext cx="59436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5.1682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49808" y="3152394"/>
            <a:ext cx="114300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84248" y="3188970"/>
            <a:ext cx="3253794" cy="25237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742432" y="3152394"/>
            <a:ext cx="59436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5.6711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49808" y="3941064"/>
            <a:ext cx="114300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84248" y="3977640"/>
            <a:ext cx="401668" cy="25237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742432" y="3941064"/>
            <a:ext cx="594360" cy="4337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5.1705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20840" y="1481328"/>
            <a:ext cx="132588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766560" y="1527048"/>
            <a:ext cx="123444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8046720" y="1481328"/>
            <a:ext cx="82296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092440" y="1527048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loss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869680" y="1481328"/>
            <a:ext cx="73152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15400" y="152704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PPL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601200" y="1481328"/>
            <a:ext cx="105156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46920" y="1527048"/>
            <a:ext cx="9601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Last200 train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0652760" y="1481328"/>
            <a:ext cx="731520" cy="441960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698480" y="152704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tok/s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720840" y="1923288"/>
            <a:ext cx="132588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66560" y="1969008"/>
            <a:ext cx="123444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8046720" y="1923288"/>
            <a:ext cx="82296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092440" y="1969008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5.1682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8869680" y="1923288"/>
            <a:ext cx="73152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15400" y="196900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175.60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9601200" y="1923288"/>
            <a:ext cx="105156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646920" y="1969008"/>
            <a:ext cx="9601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5.2374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10652760" y="1923288"/>
            <a:ext cx="73152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698480" y="196900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18.26k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6720840" y="2365248"/>
            <a:ext cx="132588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766560" y="2410968"/>
            <a:ext cx="123444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890" dirty="0"/>
          </a:p>
        </p:txBody>
      </p:sp>
      <p:sp>
        <p:nvSpPr>
          <p:cNvPr id="47" name="Shape 45"/>
          <p:cNvSpPr/>
          <p:nvPr/>
        </p:nvSpPr>
        <p:spPr>
          <a:xfrm>
            <a:off x="8046720" y="2365248"/>
            <a:ext cx="82296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092440" y="2410968"/>
            <a:ext cx="7315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5.1705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8869680" y="2365248"/>
            <a:ext cx="73152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915400" y="241096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175.99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9601200" y="2365248"/>
            <a:ext cx="105156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646920" y="2410968"/>
            <a:ext cx="96012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5.2440</a:t>
            </a:r>
            <a:endParaRPr lang="en-US" sz="890" dirty="0"/>
          </a:p>
        </p:txBody>
      </p:sp>
      <p:sp>
        <p:nvSpPr>
          <p:cNvPr id="53" name="Shape 51"/>
          <p:cNvSpPr/>
          <p:nvPr/>
        </p:nvSpPr>
        <p:spPr>
          <a:xfrm>
            <a:off x="10652760" y="2365248"/>
            <a:ext cx="731520" cy="441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698480" y="2410968"/>
            <a:ext cx="640080" cy="350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14.51k</a:t>
            </a:r>
            <a:endParaRPr lang="en-US" sz="890" dirty="0"/>
          </a:p>
        </p:txBody>
      </p:sp>
      <p:sp>
        <p:nvSpPr>
          <p:cNvPr id="55" name="Shape 53"/>
          <p:cNvSpPr/>
          <p:nvPr/>
        </p:nvSpPr>
        <p:spPr>
          <a:xfrm>
            <a:off x="6720840" y="3291840"/>
            <a:ext cx="370332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720840" y="3291840"/>
            <a:ext cx="4572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885432" y="3438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0.0023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885432" y="3858768"/>
            <a:ext cx="33832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 best val loss 差距；单 seed 不足以判定胜负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20840" y="4572000"/>
            <a:ext cx="4297680" cy="1060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调优前看起来 Muon 优于 AdamW，是因为 AdamW 1.5e-4 baseline 偏弱。
• 调优后，AdamW 5e-4 与 Muon 7.5e-4 在 validation loss / PPL 上几乎一致。
• 报告时应强调“充分调参后接近”，避免写成“Muon 普遍优于 AdamW”。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双 seed 复现实验：AdamW 更稳，Muon seed 敏感性更明显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目前最重要的不确定性来自随机种子，而不是 seed42 的微小差距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78408" y="1463040"/>
            <a:ext cx="50292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78408" y="2087118"/>
            <a:ext cx="50292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78408" y="2711196"/>
            <a:ext cx="50292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78408" y="3335274"/>
            <a:ext cx="50292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78408" y="3959352"/>
            <a:ext cx="50292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3554" y="4032504"/>
            <a:ext cx="12070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s42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179576" y="3412433"/>
            <a:ext cx="854964" cy="546919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69848" y="3229553"/>
            <a:ext cx="1074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5.1682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2260854" y="4032504"/>
            <a:ext cx="12070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s123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436876" y="3306907"/>
            <a:ext cx="854964" cy="652445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327148" y="3124027"/>
            <a:ext cx="1074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5.1775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3518154" y="4032504"/>
            <a:ext cx="12070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s42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694176" y="3386335"/>
            <a:ext cx="854964" cy="573017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584448" y="3203455"/>
            <a:ext cx="1074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5.1705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4775454" y="4032504"/>
            <a:ext cx="12070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s123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951476" y="1937339"/>
            <a:ext cx="854964" cy="2022013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41748" y="1754459"/>
            <a:ext cx="10744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5.2982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720840" y="1499616"/>
            <a:ext cx="365760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720840" y="1499616"/>
            <a:ext cx="45720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85432" y="16459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range 0.0093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85432" y="2066544"/>
            <a:ext cx="33375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seed42/123 非常接近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2816352"/>
            <a:ext cx="365760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720840" y="2816352"/>
            <a:ext cx="4572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85432" y="29626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range 0.1277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85432" y="3383280"/>
            <a:ext cx="33375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seed123 退化明显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4133088"/>
            <a:ext cx="4251960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seed42 可打平 AdamW；Muon seed123 升到 5.2982 / PPL 199.98。
• AdamW seed42/123 分别为 5.1682 / 5.1775，稳定性更好。
• 下一步应优先 diff 两个 Muon run 的 config 与 optimizer summary，确认除 seed 外没有差异。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9808" y="5623560"/>
            <a:ext cx="10287000" cy="530352"/>
          </a:xfrm>
          <a:prstGeom prst="roundRect">
            <a:avLst>
              <a:gd name="adj" fmla="val 6897"/>
            </a:avLst>
          </a:prstGeom>
          <a:solidFill>
            <a:srgbClr val="EAF1FF"/>
          </a:solidFill>
          <a:ln w="889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6112" y="5751576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当前最严谨结论：Muon 有潜力，但目前配置的跨 seed 方差大于 AdamW。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更新尺度解释：LR 通过 update ratio 影响优化效果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LR 数字越大越好，关键是参数移动是否落在稳定有效区间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78408" y="1463040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78408" y="2075688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78408" y="2688336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78408" y="3300984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78408" y="3913632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2640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172261" y="3035023"/>
            <a:ext cx="823874" cy="87860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62533" y="2852143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0.001219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2214220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383841" y="1689359"/>
            <a:ext cx="823874" cy="222427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74113" y="1506479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0.003086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3425800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595421" y="3339905"/>
            <a:ext cx="823874" cy="57372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485693" y="3157025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0.000796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4637380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807001" y="1811168"/>
            <a:ext cx="823874" cy="21024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697273" y="1628288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0.002917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492240" y="1463040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92240" y="2075688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92240" y="2688336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92240" y="3300984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492240" y="3913632"/>
            <a:ext cx="484632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16472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686093" y="3246783"/>
            <a:ext cx="823874" cy="66684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76365" y="3063903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0.2313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7728052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897673" y="1744137"/>
            <a:ext cx="823874" cy="21694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787945" y="1561257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0.7525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8939632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109253" y="3489247"/>
            <a:ext cx="823874" cy="4243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999525" y="3306367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0.1472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10151212" y="3986784"/>
            <a:ext cx="1163117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10320833" y="1908471"/>
            <a:ext cx="823874" cy="200516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211105" y="1725591"/>
            <a:ext cx="1043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0.6955</a:t>
            </a:r>
            <a:endParaRPr lang="en-US" sz="710" dirty="0"/>
          </a:p>
        </p:txBody>
      </p:sp>
      <p:sp>
        <p:nvSpPr>
          <p:cNvPr id="42" name="Text 40"/>
          <p:cNvSpPr/>
          <p:nvPr/>
        </p:nvSpPr>
        <p:spPr>
          <a:xfrm>
            <a:off x="914400" y="4892040"/>
            <a:ext cx="1037844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1.5e-4 的有效更新偏小，对应 50k 后仍欠优化。
• Muon 7.5e-4 与 AdamW 5e-4 的 update ratio 接近，因此最终质量也接近。
• update ratio 是解释 optimizer behavior 的关键指标，后续报告应保留。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效率与资源：AdamW 速度占优，Muon 显存略优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当质量接近时，工程代价成为主要区别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78408" y="1463040"/>
            <a:ext cx="489204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78408" y="2098548"/>
            <a:ext cx="489204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78408" y="2734056"/>
            <a:ext cx="489204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78408" y="3369564"/>
            <a:ext cx="489204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78408" y="4005072"/>
            <a:ext cx="489204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2868" y="4078224"/>
            <a:ext cx="117409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s42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174090" y="1683688"/>
            <a:ext cx="831647" cy="232138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64362" y="1500808"/>
            <a:ext cx="10511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18.26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2225878" y="4078224"/>
            <a:ext cx="117409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s123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397100" y="1696907"/>
            <a:ext cx="831647" cy="2308165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87372" y="1514027"/>
            <a:ext cx="10511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18.16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3448888" y="4078224"/>
            <a:ext cx="117409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s42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620110" y="2160319"/>
            <a:ext cx="831647" cy="1844753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510382" y="1977439"/>
            <a:ext cx="10511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14.51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4671898" y="4078224"/>
            <a:ext cx="117409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s123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843120" y="2262509"/>
            <a:ext cx="831647" cy="1742563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33392" y="2079629"/>
            <a:ext cx="10511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13.71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675120" y="1463040"/>
            <a:ext cx="43434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675120" y="2098548"/>
            <a:ext cx="43434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675120" y="2734056"/>
            <a:ext cx="43434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675120" y="3369564"/>
            <a:ext cx="43434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75120" y="4005072"/>
            <a:ext cx="4343400" cy="0"/>
          </a:xfrm>
          <a:prstGeom prst="line">
            <a:avLst/>
          </a:prstGeom>
          <a:noFill/>
          <a:ln w="5715">
            <a:solidFill>
              <a:srgbClr val="E5E7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18554" y="4078224"/>
            <a:ext cx="208483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7022592" y="2015024"/>
            <a:ext cx="1476756" cy="1990048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12864" y="1832144"/>
            <a:ext cx="16962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3.174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8890254" y="4078224"/>
            <a:ext cx="208483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194292" y="2770371"/>
            <a:ext cx="1476756" cy="1234701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84564" y="2587491"/>
            <a:ext cx="16962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3.07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868680" y="5074920"/>
            <a:ext cx="297180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8680" y="5074920"/>
            <a:ext cx="4572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33272" y="52212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−22.5%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33272" y="5641848"/>
            <a:ext cx="26517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平均吞吐相对 AdamW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60520" y="5074920"/>
            <a:ext cx="2971800" cy="10515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160520" y="5074920"/>
            <a:ext cx="45720" cy="105156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325112" y="52212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−3.28%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325112" y="5641848"/>
            <a:ext cx="26517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峰值显存相对 AdamW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43800" y="5230368"/>
            <a:ext cx="33375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解释：Muon 每步计算更重；显存优势约 104MB，当前幅度不足以抵消吞吐损失。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8BB0FF"/>
          </a:solidFill>
          <a:ln w="12700">
            <a:solidFill>
              <a:srgbClr val="8BB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30352" y="301752"/>
            <a:ext cx="8046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阶段性结论与下一步计划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面向教授汇报的正式口径：强调发现，而不是过度宣称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08813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594360" cy="612648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5029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307592" y="1389888"/>
            <a:ext cx="5212080" cy="612648"/>
          </a:xfrm>
          <a:prstGeom prst="rect">
            <a:avLst/>
          </a:prstGeom>
          <a:solidFill>
            <a:srgbClr val="0B1B3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53312" y="1435608"/>
            <a:ext cx="51206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13232" y="2002536"/>
            <a:ext cx="594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8952" y="2048256"/>
            <a:ext cx="5029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1307592" y="2002536"/>
            <a:ext cx="52120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53312" y="2048256"/>
            <a:ext cx="51206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 是当前最稳 baseline；双 seed best val loss 为 5.1682 / 5.1775。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594360" cy="6126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8952" y="2660904"/>
            <a:ext cx="5029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1307592" y="2615184"/>
            <a:ext cx="5212080" cy="6126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53312" y="2660904"/>
            <a:ext cx="51206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 在 seed42 可打平 AdamW，但 seed123 退化到 5.2982。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13232" y="3227832"/>
            <a:ext cx="594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58952" y="3273552"/>
            <a:ext cx="5029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307592" y="3227832"/>
            <a:ext cx="52120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353312" y="3273552"/>
            <a:ext cx="51206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学习率显著影响结论；Muon 不能直接复用 AdamW 的 1.5e-4。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13232" y="3840480"/>
            <a:ext cx="594360" cy="6126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58952" y="3886200"/>
            <a:ext cx="5029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307592" y="3840480"/>
            <a:ext cx="5212080" cy="6126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353312" y="3886200"/>
            <a:ext cx="512064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显存略优，但吞吐低约 20%+，需要更稳定质量收益来抵消成本。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6903720" y="1389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下一步优先级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903720" y="1783080"/>
            <a:ext cx="4251960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P0：diff Muon seed42 / seed123 的 config.json 与 optimizer summary，确认唯一变量是 seed。
• P1：复跑 Muon seed123 10k 诊断，重点看 update_norm / update_ratio 是否偏低。
• P2：补 seed7 / seed2024，形成 3+ seeds 的均值±标准差。
• P3：独立吞吐 benchmark，排除验证、checkpoint、高频日志的干扰。
• P4：再进入 Muon aux AdamW LR 消融或扩展到 SOAP / Shampoo。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5120640"/>
            <a:ext cx="10607040" cy="530352"/>
          </a:xfrm>
          <a:prstGeom prst="roundRect">
            <a:avLst>
              <a:gd name="adj" fmla="val 6897"/>
            </a:avLst>
          </a:prstGeom>
          <a:solidFill>
            <a:srgbClr val="EAF7EE"/>
          </a:solidFill>
          <a:ln w="889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96112" y="5248656"/>
            <a:ext cx="10314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总结：我们已经完成优化器实验闭环。当前</a:t>
            </a: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AdamW 更稳；Muon 在部分 seed 可持平，但需要进一步解释 seed 敏感性和效率代价。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75720" y="6528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109728"/>
            <a:ext cx="11795760" cy="384048"/>
          </a:xfrm>
          <a:prstGeom prst="rect">
            <a:avLst/>
          </a:prstGeom>
          <a:noFill/>
        </p:spPr>
        <p:txBody>
          <a:bodyPr wrap="square" lIns="36576" tIns="22860" rIns="36576" bIns="18288" anchor="t"/>
          <a:lstStyle/>
          <a:p>
            <a:pPr algn="l">
              <a:lnSpc>
                <a:spcPct val="92000"/>
              </a:lnSpc>
            </a:pPr>
            <a:r>
              <a:rPr sz="2400" b="1" dirty="0">
                <a:solidFill>
                  <a:srgbClr val="0F172A"/>
                </a:solidFill>
                <a:latin typeface="Aptos"/>
              </a:rPr>
              <a:t>10 · Prompt </a:t>
            </a:r>
            <a:r>
              <a:rPr sz="2400" b="1" dirty="0" err="1">
                <a:solidFill>
                  <a:srgbClr val="0F172A"/>
                </a:solidFill>
                <a:latin typeface="Aptos"/>
              </a:rPr>
              <a:t>原始输出对比</a:t>
            </a:r>
            <a:r>
              <a:rPr sz="2400" b="1" dirty="0">
                <a:solidFill>
                  <a:srgbClr val="0F172A"/>
                </a:solidFill>
                <a:latin typeface="Aptos"/>
              </a:rPr>
              <a:t>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30352"/>
            <a:ext cx="11795760" cy="228600"/>
          </a:xfrm>
          <a:prstGeom prst="rect">
            <a:avLst/>
          </a:prstGeom>
          <a:noFill/>
        </p:spPr>
        <p:txBody>
          <a:bodyPr wrap="square" lIns="36576" tIns="22860" rIns="36576" bIns="18288" anchor="t"/>
          <a:lstStyle/>
          <a:p>
            <a:pPr algn="l">
              <a:lnSpc>
                <a:spcPct val="92000"/>
              </a:lnSpc>
            </a:pPr>
            <a:r>
              <a:rPr sz="950" b="0">
                <a:solidFill>
                  <a:srgbClr val="475569"/>
                </a:solidFill>
                <a:latin typeface="Aptos"/>
              </a:rPr>
              <a:t>最优 AdamW 5e-4 vs 最优 Muon 7.5e-4 · 仅展示 Sampling 原始输出；max_new_tokens=80, temperature=0.8, top-k=50, top-p=0.95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804672"/>
            <a:ext cx="3703320" cy="34747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0F172A"/>
                </a:solidFill>
                <a:latin typeface="Aptos"/>
              </a:rPr>
              <a:t>AdamW best val loss: 5.1682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804672"/>
            <a:ext cx="3703320" cy="34747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0F172A"/>
                </a:solidFill>
                <a:latin typeface="Aptos"/>
              </a:rPr>
              <a:t>Muon best val loss: 5.1705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804672"/>
            <a:ext cx="3703320" cy="34747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900" b="0">
                <a:solidFill>
                  <a:srgbClr val="0F172A"/>
                </a:solidFill>
                <a:latin typeface="Aptos"/>
              </a:rPr>
              <a:t>Sampling setting: same prompts / same decoding params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53312"/>
            <a:ext cx="1234440" cy="292608"/>
          </a:xfrm>
          <a:prstGeom prst="rect">
            <a:avLst/>
          </a:prstGeom>
          <a:solidFill>
            <a:srgbClr val="254AB2"/>
          </a:solidFill>
          <a:ln w="6350">
            <a:solidFill>
              <a:srgbClr val="254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1353312"/>
            <a:ext cx="5312664" cy="292608"/>
          </a:xfrm>
          <a:prstGeom prst="rect">
            <a:avLst/>
          </a:prstGeom>
          <a:solidFill>
            <a:srgbClr val="254AB2"/>
          </a:solidFill>
          <a:ln w="6350">
            <a:solidFill>
              <a:srgbClr val="254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AdamW 5e-4 sampled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1696" y="1353312"/>
            <a:ext cx="5312664" cy="292608"/>
          </a:xfrm>
          <a:prstGeom prst="rect">
            <a:avLst/>
          </a:prstGeom>
          <a:solidFill>
            <a:srgbClr val="254AB2"/>
          </a:solidFill>
          <a:ln w="6350">
            <a:solidFill>
              <a:srgbClr val="254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Muon 7.5e-4 sampled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45920"/>
            <a:ext cx="123444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0F172A"/>
                </a:solidFill>
                <a:latin typeface="Aptos"/>
              </a:rPr>
              <a:t>History
of science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99031" y="1645920"/>
            <a:ext cx="5312663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b="0" dirty="0">
                <a:solidFill>
                  <a:srgbClr val="0F172A"/>
                </a:solidFill>
                <a:latin typeface="Aptos"/>
              </a:rPr>
              <a:t>The history of science and literature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11696" y="1645920"/>
            <a:ext cx="5312664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b="0" dirty="0">
                <a:solidFill>
                  <a:srgbClr val="0F172A"/>
                </a:solidFill>
                <a:latin typeface="Aptos"/>
              </a:rPr>
              <a:t>The history of science on planets not for of planet was be by the ' age " . this to a of- Earth , a </a:t>
            </a:r>
            <a:r>
              <a:rPr b="0" dirty="0" err="1">
                <a:solidFill>
                  <a:srgbClr val="0F172A"/>
                </a:solidFill>
                <a:latin typeface="Aptos"/>
              </a:rPr>
              <a:t>thats</a:t>
            </a:r>
            <a:r>
              <a:rPr b="0" dirty="0">
                <a:solidFill>
                  <a:srgbClr val="0F172A"/>
                </a:solidFill>
                <a:latin typeface="Aptos"/>
              </a:rPr>
              <a:t> , known Venus is to a from ' @@ object of , would an with or ' ' ' ' ' ' ' ' ' , ' the . 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670048"/>
            <a:ext cx="1234440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0F172A"/>
                </a:solidFill>
                <a:latin typeface="Aptos"/>
              </a:rPr>
              <a:t>Early 20th
century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9032" y="2670048"/>
            <a:ext cx="5312664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400" b="0" dirty="0">
                <a:solidFill>
                  <a:srgbClr val="0F172A"/>
                </a:solidFill>
                <a:latin typeface="Aptos"/>
              </a:rPr>
              <a:t>In the early twentieth century the of is in of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of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present- day .The of , to south this are and southern , with west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extendingwards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the of by @@ to- east The , the</a:t>
            </a:r>
            <a:r>
              <a:rPr lang="en-US"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most of route the east In and the at- west From . is of importance there its date including land and to status the , " " " of " " " " " " " " " " " from (..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11696" y="2670048"/>
            <a:ext cx="5312664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400" b="0" dirty="0">
                <a:solidFill>
                  <a:srgbClr val="0F172A"/>
                </a:solidFill>
                <a:latin typeface="Aptos"/>
              </a:rPr>
              <a:t>In the early twentieth century the of artists with and , the has been as part several of modern and works the Gallery Art .The is of importance its to art well its , in the of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of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where is as form a , , , or many the of paintings from period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694176"/>
            <a:ext cx="123444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0F172A"/>
                </a:solidFill>
                <a:latin typeface="Aptos"/>
              </a:rPr>
              <a:t>Artificial
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9032" y="3694176"/>
            <a:ext cx="5312664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Artificial intelligence is to the of in that and a that cannot drawn the .The is by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theic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: is , or , fact the is of and is most in order see as . the is are by that . is that by the of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of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other , are by their , be the of-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1696" y="3694176"/>
            <a:ext cx="5312664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400" b="0" dirty="0">
                <a:solidFill>
                  <a:srgbClr val="0F172A"/>
                </a:solidFill>
                <a:latin typeface="Aptos"/>
              </a:rPr>
              <a:t>Artificial intelligence is in with , is to an of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of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. , the must to this which be from same as ' ' ' @@ '-- one or , a for @@ . This not . ,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youre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the and way 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718304"/>
            <a:ext cx="1234440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0F172A"/>
                </a:solidFill>
                <a:latin typeface="Aptos"/>
              </a:rPr>
              <a:t>Theory of
evolution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9032" y="4718304"/>
            <a:ext cx="5312664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200" b="0" dirty="0">
                <a:solidFill>
                  <a:srgbClr val="0F172A"/>
                </a:solidFill>
                <a:latin typeface="Aptos"/>
              </a:rPr>
              <a:t>The theory of evolution states that organisms from regions all way the , and they be the of . to is natural . this that can different , will in case an organisms a . , a ' ' ' of ' ' ' ' ' the ' ' ' the . , is common which have same . , , a may may explained their characteristics such evolutionary . are known share different of : or the .In case humans a has (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4718304"/>
            <a:ext cx="5312664" cy="1024128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200" b="0" dirty="0">
                <a:solidFill>
                  <a:srgbClr val="0F172A"/>
                </a:solidFill>
                <a:latin typeface="Aptos"/>
              </a:rPr>
              <a:t>The theory of evolution states that in ancient , could explain true and patterns other . example that the of were as ( ) on theory that natural would a to , this must been by , the theory be by , that existence any exist . , theory not to valid with arguments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5742432"/>
            <a:ext cx="123444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0F172A"/>
                </a:solidFill>
                <a:latin typeface="Aptos"/>
              </a:rPr>
              <a:t>Modern society,
technology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9032" y="5742432"/>
            <a:ext cx="5312664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400" b="0" dirty="0">
                <a:solidFill>
                  <a:srgbClr val="0F172A"/>
                </a:solidFill>
                <a:latin typeface="Aptos"/>
              </a:rPr>
              <a:t>In modern society, technology has to considered and be part the in- schools . is of , @@ in- house " " " and " " to ones is as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as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as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or not " " the school 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1696" y="5742432"/>
            <a:ext cx="5312664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2860" rIns="36576" bIns="18288" rtlCol="0" anchor="t"/>
          <a:lstStyle/>
          <a:p>
            <a:pPr algn="l">
              <a:lnSpc>
                <a:spcPct val="92000"/>
              </a:lnSpc>
            </a:pPr>
            <a:r>
              <a:rPr sz="1000" b="0" dirty="0">
                <a:solidFill>
                  <a:srgbClr val="0F172A"/>
                </a:solidFill>
                <a:latin typeface="Aptos"/>
              </a:rPr>
              <a:t>In modern society, technology has used the of @@ ( ) to the and industry , particular as . a on- site of is in form national , , , national international and markets As 2015 The of ' ' , market , or other .As 2011 the of countries Canada been by British- based , , the States Australia France Italy Singapore Canada Australia Switzerland Germany </a:t>
            </a:r>
            <a:r>
              <a:rPr sz="1000" b="0" dirty="0" err="1">
                <a:solidFill>
                  <a:srgbClr val="0F172A"/>
                </a:solidFill>
                <a:latin typeface="Aptos"/>
              </a:rPr>
              <a:t>Germany</a:t>
            </a:r>
            <a:r>
              <a:rPr sz="1000" b="0" dirty="0">
                <a:solidFill>
                  <a:srgbClr val="0F172A"/>
                </a:solidFill>
                <a:latin typeface="Aptos"/>
              </a:rPr>
              <a:t> Switzerland Sweden Austria Denmark Brazil Turkey Greece Italy Poland Russia the , ,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" y="6565392"/>
            <a:ext cx="11859768" cy="18288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l">
              <a:lnSpc>
                <a:spcPct val="92000"/>
              </a:lnSpc>
            </a:pPr>
            <a:r>
              <a:rPr sz="700">
                <a:solidFill>
                  <a:srgbClr val="0F172A"/>
                </a:solidFill>
                <a:latin typeface="Aptos"/>
              </a:rPr>
              <a:t>来源文件：sample_outputs_adamw_L8_lr5e4.md 与 sample_outputs_muon_L8_lr7p5e4.md；表格为 5 个固定 Prompt 的 Sampling 原始输出。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10 · Prompt 定性对比：5 个固定 Prompt 放在同一页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67512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Microsoft YaHei"/>
              </a:rPr>
              <a:t>最优 AdamW 5e-4 vs 最优 Muon 7.5e-4 · Sampling 输出摘要（max_new_tokens=80, temperature=0.8, top-k=50, top-p=0.95）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87552"/>
            <a:ext cx="2423160" cy="45720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950" b="0">
                <a:solidFill>
                  <a:srgbClr val="1E293B"/>
                </a:solidFill>
                <a:latin typeface="Microsoft YaHei"/>
              </a:rPr>
              <a:t>AdamW best val loss</a:t>
            </a:r>
            <a:br/>
            <a:r>
              <a:rPr sz="950" b="0">
                <a:solidFill>
                  <a:srgbClr val="1E293B"/>
                </a:solidFill>
                <a:latin typeface="Microsoft YaHei"/>
              </a:rPr>
              <a:t>5.1682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987552"/>
            <a:ext cx="2423160" cy="45720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950" b="0">
                <a:solidFill>
                  <a:srgbClr val="1E293B"/>
                </a:solidFill>
                <a:latin typeface="Microsoft YaHei"/>
              </a:rPr>
              <a:t>Muon best val loss</a:t>
            </a:r>
            <a:br/>
            <a:r>
              <a:rPr sz="950" b="0">
                <a:solidFill>
                  <a:srgbClr val="1E293B"/>
                </a:solidFill>
                <a:latin typeface="Microsoft YaHei"/>
              </a:rPr>
              <a:t>5.1705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987552"/>
            <a:ext cx="2423160" cy="45720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950" b="0">
                <a:solidFill>
                  <a:srgbClr val="1E293B"/>
                </a:solidFill>
                <a:latin typeface="Microsoft YaHei"/>
              </a:rPr>
              <a:t>差距</a:t>
            </a:r>
            <a:br/>
            <a:r>
              <a:rPr sz="950" b="0">
                <a:solidFill>
                  <a:srgbClr val="1E293B"/>
                </a:solidFill>
                <a:latin typeface="Microsoft YaHei"/>
              </a:rPr>
              <a:t>0.0023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987552"/>
            <a:ext cx="2423160" cy="457200"/>
          </a:xfrm>
          <a:prstGeom prst="round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950" b="0">
                <a:solidFill>
                  <a:srgbClr val="1E293B"/>
                </a:solidFill>
                <a:latin typeface="Microsoft YaHei"/>
              </a:rPr>
              <a:t>Greedy 结论</a:t>
            </a:r>
            <a:br/>
            <a:r>
              <a:rPr sz="950" b="0">
                <a:solidFill>
                  <a:srgbClr val="1E293B"/>
                </a:solidFill>
                <a:latin typeface="Microsoft YaHei"/>
              </a:rPr>
              <a:t>两者均退化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417320" cy="329184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019" b="1">
                <a:solidFill>
                  <a:srgbClr val="FFFFFF"/>
                </a:solidFill>
                <a:latin typeface="Microsoft YaHei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27632"/>
            <a:ext cx="3429000" cy="329184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019" b="1">
                <a:solidFill>
                  <a:srgbClr val="FFFFFF"/>
                </a:solidFill>
                <a:latin typeface="Microsoft YaHei"/>
              </a:rPr>
              <a:t>AdamW 5e-4 sampling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627632"/>
            <a:ext cx="3429000" cy="329184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019" b="1">
                <a:solidFill>
                  <a:srgbClr val="FFFFFF"/>
                </a:solidFill>
                <a:latin typeface="Microsoft YaHei"/>
              </a:rPr>
              <a:t>Muon 7.5e-4 sampling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27632"/>
            <a:ext cx="3108960" cy="329184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019" b="1">
                <a:solidFill>
                  <a:srgbClr val="FFFFFF"/>
                </a:solidFill>
                <a:latin typeface="Microsoft YaHei"/>
              </a:rPr>
              <a:t>定性判断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56816"/>
            <a:ext cx="1417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80" b="1">
                <a:solidFill>
                  <a:srgbClr val="0F172A"/>
                </a:solidFill>
                <a:latin typeface="Microsoft YaHei"/>
              </a:rPr>
              <a:t>History</a:t>
            </a:r>
            <a:br/>
            <a:r>
              <a:rPr sz="880" b="1">
                <a:solidFill>
                  <a:srgbClr val="0F172A"/>
                </a:solidFill>
                <a:latin typeface="Microsoft YaHei"/>
              </a:rPr>
              <a:t>of science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95681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“science and literature”</a:t>
            </a:r>
            <a:br/>
            <a:r>
              <a:rPr sz="840" b="0">
                <a:solidFill>
                  <a:srgbClr val="0F172A"/>
                </a:solidFill>
                <a:latin typeface="Microsoft YaHei"/>
              </a:rPr>
              <a:t>短、较流畅，但很早结束。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95681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转向 planets / Earth / Venus；更长但偏题，含 @@ 和引号重复。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956816"/>
            <a:ext cx="3108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1E40AF"/>
                </a:solidFill>
                <a:latin typeface="Microsoft YaHei"/>
              </a:rPr>
              <a:t>AdamW 略优：局部贴合更好；Muon 词汇更多但漂移。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88336"/>
            <a:ext cx="141732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80" b="1">
                <a:solidFill>
                  <a:srgbClr val="0F172A"/>
                </a:solidFill>
                <a:latin typeface="Microsoft YaHei"/>
              </a:rPr>
              <a:t>Early 20th</a:t>
            </a:r>
            <a:br/>
            <a:r>
              <a:rPr sz="880" b="1">
                <a:solidFill>
                  <a:srgbClr val="0F172A"/>
                </a:solidFill>
                <a:latin typeface="Microsoft YaHei"/>
              </a:rPr>
              <a:t>century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688336"/>
            <a:ext cx="342900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转向 present-day / south / route / east 等地理路线，主题偏移。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2688336"/>
            <a:ext cx="342900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围绕 artists / Gallery Art / paintings / period time，历史艺术语境更集中。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688336"/>
            <a:ext cx="310896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1E40AF"/>
                </a:solidFill>
                <a:latin typeface="Microsoft YaHei"/>
              </a:rPr>
              <a:t>Muon 更优：主题连续性更好。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19856"/>
            <a:ext cx="1417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80" b="1">
                <a:solidFill>
                  <a:srgbClr val="0F172A"/>
                </a:solidFill>
                <a:latin typeface="Microsoft YaHei"/>
              </a:rPr>
              <a:t>Artificial</a:t>
            </a:r>
            <a:br/>
            <a:r>
              <a:rPr sz="880" b="1">
                <a:solidFill>
                  <a:srgbClr val="0F172A"/>
                </a:solidFill>
                <a:latin typeface="Microsoft YaHei"/>
              </a:rPr>
              <a:t>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41985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抽象论述风格仍在，但语法破碎：cannot drawn / fact / other。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341985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出现 @@、连续引号和不完整词语；主题信息较弱。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419856"/>
            <a:ext cx="3108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1E40AF"/>
                </a:solidFill>
                <a:latin typeface="Microsoft YaHei"/>
              </a:rPr>
              <a:t>AdamW 更优：artifact 更少，形式更像定义。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51376"/>
            <a:ext cx="141732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80" b="1">
                <a:solidFill>
                  <a:srgbClr val="0F172A"/>
                </a:solidFill>
                <a:latin typeface="Microsoft YaHei"/>
              </a:rPr>
              <a:t>Theory of</a:t>
            </a:r>
            <a:br/>
            <a:r>
              <a:rPr sz="880" b="1">
                <a:solidFill>
                  <a:srgbClr val="0F172A"/>
                </a:solidFill>
                <a:latin typeface="Microsoft YaHei"/>
              </a:rPr>
              <a:t>evolution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151376"/>
            <a:ext cx="342900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出现 organisms / natural / characteristics / evolutionary / humans，语义链更明确。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4151376"/>
            <a:ext cx="342900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偏向 theory / natural / valid / arguments，较泛化。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151376"/>
            <a:ext cx="3108960" cy="7315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1E40AF"/>
                </a:solidFill>
                <a:latin typeface="Microsoft YaHei"/>
              </a:rPr>
              <a:t>AdamW 更优：生物学关键词更集中。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82896"/>
            <a:ext cx="1417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80" b="1">
                <a:solidFill>
                  <a:srgbClr val="0F172A"/>
                </a:solidFill>
                <a:latin typeface="Microsoft YaHei"/>
              </a:rPr>
              <a:t>Modern society,</a:t>
            </a:r>
            <a:br/>
            <a:r>
              <a:rPr sz="880" b="1">
                <a:solidFill>
                  <a:srgbClr val="0F172A"/>
                </a:solidFill>
                <a:latin typeface="Microsoft YaHei"/>
              </a:rPr>
              <a:t>technology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88289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集中到 schools / in-house / school，相关但较短且场景窄。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4882896"/>
            <a:ext cx="3429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0F172A"/>
                </a:solidFill>
                <a:latin typeface="Microsoft YaHei"/>
              </a:rPr>
              <a:t>industry / international markets 更贴近主题；后半段退化为国家列表。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882896"/>
            <a:ext cx="3108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27432" rIns="50292" bIns="27432" rtlCol="0" anchor="t"/>
          <a:lstStyle/>
          <a:p>
            <a:pPr algn="l"/>
            <a:r>
              <a:rPr sz="840" b="0">
                <a:solidFill>
                  <a:srgbClr val="1E40AF"/>
                </a:solidFill>
                <a:latin typeface="Microsoft YaHei"/>
              </a:rPr>
              <a:t>Muon 略优：覆盖更广，但长程失控。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199632"/>
            <a:ext cx="11155680" cy="49377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l"/>
            <a:r>
              <a:rPr sz="1030" b="1">
                <a:solidFill>
                  <a:srgbClr val="0F172A"/>
                </a:solidFill>
                <a:latin typeface="Microsoft YaHei"/>
              </a:rPr>
              <a:t>结论：5 个固定 Prompt 的定性结果与 val loss 一致——两者整体接近、无稳定胜者；AdamW 在知识型 Prompt 上更稳，Muon 在部分主题延展上更强，但二者仍有重复、断裂和 tokenizer artifact。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2001</Words>
  <Application>Microsoft Office PowerPoint</Application>
  <PresentationFormat>宽屏</PresentationFormat>
  <Paragraphs>276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Mini Pretrain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阶段实验总结：AdamW vs Muon</dc:title>
  <dc:subject>Mini Pretrain optimizer experiment summary</dc:subject>
  <dc:creator>OpenAI</dc:creator>
  <cp:lastModifiedBy>Mian Wang (SDS,124090618)</cp:lastModifiedBy>
  <cp:revision>6</cp:revision>
  <dcterms:created xsi:type="dcterms:W3CDTF">2026-06-17T08:09:27Z</dcterms:created>
  <dcterms:modified xsi:type="dcterms:W3CDTF">2026-06-18T05:43:21Z</dcterms:modified>
</cp:coreProperties>
</file>